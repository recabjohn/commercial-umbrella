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 = Addition-Inheritance Full Content report; DS = Data structure; ALG = Algorithms; TC = Sample Test Case; DOC = State Refer to Company &amp; Unsupported Rules; RC = Addition-Deletion Content report. All descriptions quoted from Readme.txt in the ERC package.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1 CommercialUmbrella = Page sheet: 'Policy Detail' table CommercialUmbrella. Level 3 groups = Page sheet rows Type=Summary whose Parent is 'Policy Detail'. State level is an INFERENCE from the General Liability screens: the FRC has no State field because states are separate files (CU-AK, CU-CW).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 checkbox is the only addition; the other three (General Liability, Commercial Automobile, Commercial Property) are the SWP page's own. Next stays locked until one is ticked. Sample Details values (agency, submission number) are from the pasted test data, not real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 = FRC-CU-AK-12012020-V01.xlsx (AK) and FRC-CU-CW-12012020-V01.xlsx (CW). On the pages used here AK and CW are identical (167 fields).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Columns read: Field, Label, Type, Quote Required, Required Condition, Default, Domain Table, Condition. Premium rows are on the next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17320"/>
            <a:ext cx="10058400" cy="365760"/>
          </a:xfrm>
          <a:prstGeom prst="rect">
            <a:avLst/>
          </a:prstGeom>
          <a:noFill/>
        </p:spPr>
        <p:txBody>
          <a:bodyPr wrap="square" anchor="t" lIns="45720" rIns="45720">
            <a:spAutoFit/>
          </a:bodyPr>
          <a:lstStyle/>
          <a:p>
            <a:pPr algn="l">
              <a:spcAft>
                <a:spcPts val="400"/>
              </a:spcAft>
            </a:pPr>
            <a:r>
              <a:rPr sz="1500" b="1" i="0">
                <a:solidFill>
                  <a:srgbClr val="BECDEB"/>
                </a:solidFill>
                <a:latin typeface="Calibri"/>
              </a:rPr>
              <a:t>COMMERCIAL UMBRELLA  ·  POLICY SCREEN</a:t>
            </a:r>
          </a:p>
        </p:txBody>
      </p:sp>
      <p:sp>
        <p:nvSpPr>
          <p:cNvPr id="4" name="TextBox 3"/>
          <p:cNvSpPr txBox="1"/>
          <p:nvPr/>
        </p:nvSpPr>
        <p:spPr>
          <a:xfrm>
            <a:off x="868680" y="1920240"/>
            <a:ext cx="10424160" cy="1645920"/>
          </a:xfrm>
          <a:prstGeom prst="rect">
            <a:avLst/>
          </a:prstGeom>
          <a:noFill/>
        </p:spPr>
        <p:txBody>
          <a:bodyPr wrap="square" anchor="t" lIns="45720" rIns="45720">
            <a:spAutoFit/>
          </a:bodyPr>
          <a:lstStyle/>
          <a:p>
            <a:pPr algn="l">
              <a:spcAft>
                <a:spcPts val="400"/>
              </a:spcAft>
            </a:pPr>
            <a:r>
              <a:rPr sz="4200" b="1" i="0">
                <a:solidFill>
                  <a:srgbClr val="FFFFFF"/>
                </a:solidFill>
                <a:latin typeface="Calibri"/>
              </a:rPr>
              <a:t>Screen Requirements — Which Fields, From Which File</a:t>
            </a:r>
          </a:p>
        </p:txBody>
      </p:sp>
      <p:sp>
        <p:nvSpPr>
          <p:cNvPr id="5" name="Rectangle 4"/>
          <p:cNvSpPr/>
          <p:nvPr/>
        </p:nvSpPr>
        <p:spPr>
          <a:xfrm>
            <a:off x="0" y="4736592"/>
            <a:ext cx="12191695" cy="5486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983480"/>
            <a:ext cx="10424160" cy="365760"/>
          </a:xfrm>
          <a:prstGeom prst="rect">
            <a:avLst/>
          </a:prstGeom>
          <a:noFill/>
        </p:spPr>
        <p:txBody>
          <a:bodyPr wrap="square" anchor="t" lIns="45720" rIns="45720">
            <a:spAutoFit/>
          </a:bodyPr>
          <a:lstStyle/>
          <a:p>
            <a:pPr algn="l">
              <a:spcAft>
                <a:spcPts val="400"/>
              </a:spcAft>
            </a:pPr>
            <a:r>
              <a:rPr sz="1400" b="0" i="0">
                <a:solidFill>
                  <a:srgbClr val="FFFFFF"/>
                </a:solidFill>
                <a:latin typeface="Calibri"/>
              </a:rPr>
              <a:t>Source files: ISO ERC package CU-AK and CU-CW dated 12/01/2020 V01  ·  v2 · 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What We Built</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2</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Prototype in build/lob-page and build/risk-page; live copy at commercialumbrella.vercel.app</a:t>
            </a:r>
          </a:p>
        </p:txBody>
      </p:sp>
      <p:sp>
        <p:nvSpPr>
          <p:cNvPr id="8" name="Rectangle 7"/>
          <p:cNvSpPr/>
          <p:nvPr/>
        </p:nvSpPr>
        <p:spPr>
          <a:xfrm>
            <a:off x="50292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91440" cy="13258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2588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Page 1: Line Of Business — choose General Liability, Commercial Automobile, Commercial Property or Commercial Umbrella</a:t>
            </a:r>
          </a:p>
        </p:txBody>
      </p:sp>
      <p:sp>
        <p:nvSpPr>
          <p:cNvPr id="11" name="Rectangle 10"/>
          <p:cNvSpPr/>
          <p:nvPr/>
        </p:nvSpPr>
        <p:spPr>
          <a:xfrm>
            <a:off x="617220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25880"/>
            <a:ext cx="91440" cy="13258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2588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Page 2: Risk/Coverage — add a State, fill the Policy, then add underlying insurance</a:t>
            </a:r>
          </a:p>
        </p:txBody>
      </p:sp>
      <p:sp>
        <p:nvSpPr>
          <p:cNvPr id="14" name="Rectangle 13"/>
          <p:cNvSpPr/>
          <p:nvPr/>
        </p:nvSpPr>
        <p:spPr>
          <a:xfrm>
            <a:off x="50292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880360"/>
            <a:ext cx="91440" cy="13258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88036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Policy page has 26 fields; underlying insurance has 9 groups and 105 detail fields</a:t>
            </a:r>
          </a:p>
        </p:txBody>
      </p:sp>
      <p:sp>
        <p:nvSpPr>
          <p:cNvPr id="17" name="Rectangle 16"/>
          <p:cNvSpPr/>
          <p:nvPr/>
        </p:nvSpPr>
        <p:spPr>
          <a:xfrm>
            <a:off x="617220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880360"/>
            <a:ext cx="91440" cy="13258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88036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Checks and messages come from the rules in the ERC files, not from our own ideas</a:t>
            </a:r>
          </a:p>
        </p:txBody>
      </p:sp>
      <p:sp>
        <p:nvSpPr>
          <p:cNvPr id="20" name="Rectangle 19"/>
          <p:cNvSpPr/>
          <p:nvPr/>
        </p:nvSpPr>
        <p:spPr>
          <a:xfrm>
            <a:off x="50292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434840"/>
            <a:ext cx="91440" cy="1325880"/>
          </a:xfrm>
          <a:prstGeom prst="rect">
            <a:avLst/>
          </a:prstGeom>
          <a:solidFill>
            <a:srgbClr val="CC3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3484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Look and flow copy the General Liability screens you showed us</a:t>
            </a:r>
          </a:p>
        </p:txBody>
      </p:sp>
      <p:sp>
        <p:nvSpPr>
          <p:cNvPr id="23" name="Rectangle 22"/>
          <p:cNvSpPr/>
          <p:nvPr/>
        </p:nvSpPr>
        <p:spPr>
          <a:xfrm>
            <a:off x="617220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434840"/>
            <a:ext cx="91440" cy="132588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43484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Forms and endorsements are left out for now (see Left Out and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Where the Information Came From</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3</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File names in the last slide; descriptions of each file from the package Readme.txt</a:t>
            </a:r>
          </a:p>
        </p:txBody>
      </p:sp>
      <p:graphicFrame>
        <p:nvGraphicFramePr>
          <p:cNvPr id="8" name="Table 7"/>
          <p:cNvGraphicFramePr>
            <a:graphicFrameLocks noGrp="1"/>
          </p:cNvGraphicFramePr>
          <p:nvPr/>
        </p:nvGraphicFramePr>
        <p:xfrm>
          <a:off x="457200" y="1188720"/>
          <a:ext cx="11292840" cy="4315968"/>
        </p:xfrm>
        <a:graphic>
          <a:graphicData uri="http://schemas.openxmlformats.org/drawingml/2006/table">
            <a:tbl>
              <a:tblPr firstRow="1" bandRow="1">
                <a:tableStyleId>{5C22544A-7EE6-4342-B048-85BDC9FD1C3A}</a:tableStyleId>
              </a:tblPr>
              <a:tblGrid>
                <a:gridCol w="3200400"/>
                <a:gridCol w="4160520"/>
                <a:gridCol w="3931920"/>
              </a:tblGrid>
              <a:tr h="347472">
                <a:tc>
                  <a:txBody>
                    <a:bodyPr wrap="square"/>
                    <a:lstStyle/>
                    <a:p>
                      <a:r>
                        <a:rPr sz="1100" b="1">
                          <a:solidFill>
                            <a:srgbClr val="FFFFFF"/>
                          </a:solidFill>
                          <a:latin typeface="Calibri"/>
                        </a:rPr>
                        <a:t>File</a:t>
                      </a:r>
                    </a:p>
                  </a:txBody>
                  <a:tcPr marL="54864" marR="54864" marT="22860" marB="22860" anchor="ctr">
                    <a:solidFill>
                      <a:srgbClr val="0B3B7A"/>
                    </a:solidFill>
                  </a:tcPr>
                </a:tc>
                <a:tc>
                  <a:txBody>
                    <a:bodyPr wrap="square"/>
                    <a:lstStyle/>
                    <a:p>
                      <a:r>
                        <a:rPr sz="1100" b="1">
                          <a:solidFill>
                            <a:srgbClr val="FFFFFF"/>
                          </a:solidFill>
                          <a:latin typeface="Calibri"/>
                        </a:rPr>
                        <a:t>Sheet or part we read</a:t>
                      </a:r>
                    </a:p>
                  </a:txBody>
                  <a:tcPr marL="54864" marR="54864" marT="22860" marB="22860" anchor="ctr">
                    <a:solidFill>
                      <a:srgbClr val="0B3B7A"/>
                    </a:solidFill>
                  </a:tcPr>
                </a:tc>
                <a:tc>
                  <a:txBody>
                    <a:bodyPr wrap="square"/>
                    <a:lstStyle/>
                    <a:p>
                      <a:r>
                        <a:rPr sz="1100" b="1">
                          <a:solidFill>
                            <a:srgbClr val="FFFFFF"/>
                          </a:solidFill>
                          <a:latin typeface="Calibri"/>
                        </a:rPr>
                        <a:t>What we took from it</a:t>
                      </a:r>
                    </a:p>
                  </a:txBody>
                  <a:tcPr marL="54864" marR="54864" marT="22860" marB="22860" anchor="ctr">
                    <a:solidFill>
                      <a:srgbClr val="0B3B7A"/>
                    </a:solidFill>
                  </a:tcPr>
                </a:tc>
              </a:tr>
              <a:tr h="566928">
                <a:tc>
                  <a:txBody>
                    <a:bodyPr wrap="square"/>
                    <a:lstStyle/>
                    <a:p>
                      <a:r>
                        <a:rPr sz="1100" b="0">
                          <a:solidFill>
                            <a:srgbClr val="1F2937"/>
                          </a:solidFill>
                          <a:latin typeface="Calibri"/>
                        </a:rPr>
                        <a:t>ISO ERC Suite Product Guide (PDF)</a:t>
                      </a:r>
                    </a:p>
                  </a:txBody>
                  <a:tcPr marL="54864" marR="54864" marT="22860" marB="22860" anchor="ctr">
                    <a:solidFill>
                      <a:srgbClr val="FFFFFF"/>
                    </a:solidFill>
                  </a:tcPr>
                </a:tc>
                <a:tc>
                  <a:txBody>
                    <a:bodyPr wrap="square"/>
                    <a:lstStyle/>
                    <a:p>
                      <a:r>
                        <a:rPr sz="1100" b="0">
                          <a:solidFill>
                            <a:srgbClr val="1F2937"/>
                          </a:solidFill>
                          <a:latin typeface="Calibri"/>
                        </a:rPr>
                        <a:t>Hierarchy pictures, p.79 (CU), p.82 (GL); Page / Page Field / Domain sections</a:t>
                      </a:r>
                    </a:p>
                  </a:txBody>
                  <a:tcPr marL="54864" marR="54864" marT="22860" marB="22860" anchor="ctr">
                    <a:solidFill>
                      <a:srgbClr val="FFFFFF"/>
                    </a:solidFill>
                  </a:tcPr>
                </a:tc>
                <a:tc>
                  <a:txBody>
                    <a:bodyPr wrap="square"/>
                    <a:lstStyle/>
                    <a:p>
                      <a:r>
                        <a:rPr sz="1100" b="0">
                          <a:solidFill>
                            <a:srgbClr val="1F2937"/>
                          </a:solidFill>
                          <a:latin typeface="Calibri"/>
                        </a:rPr>
                        <a:t>How a CU product is laid out; what each ERC sheet means</a:t>
                      </a:r>
                    </a:p>
                  </a:txBody>
                  <a:tcPr marL="54864" marR="54864" marT="22860" marB="22860" anchor="ctr">
                    <a:solidFill>
                      <a:srgbClr val="FFFFFF"/>
                    </a:solidFill>
                  </a:tcPr>
                </a:tc>
              </a:tr>
              <a:tr h="566928">
                <a:tc>
                  <a:txBody>
                    <a:bodyPr wrap="square"/>
                    <a:lstStyle/>
                    <a:p>
                      <a:r>
                        <a:rPr sz="1100" b="0">
                          <a:solidFill>
                            <a:srgbClr val="1F2937"/>
                          </a:solidFill>
                          <a:latin typeface="Calibri"/>
                        </a:rPr>
                        <a:t>FRC (full content) CU-AK, CU-CW</a:t>
                      </a:r>
                    </a:p>
                  </a:txBody>
                  <a:tcPr marL="54864" marR="54864" marT="22860" marB="22860" anchor="ctr">
                    <a:solidFill>
                      <a:srgbClr val="EEF2F9"/>
                    </a:solidFill>
                  </a:tcPr>
                </a:tc>
                <a:tc>
                  <a:txBody>
                    <a:bodyPr wrap="square"/>
                    <a:lstStyle/>
                    <a:p>
                      <a:r>
                        <a:rPr sz="1100" b="0">
                          <a:solidFill>
                            <a:srgbClr val="1F2937"/>
                          </a:solidFill>
                          <a:latin typeface="Calibri"/>
                        </a:rPr>
                        <a:t>Page, Page Fields, Domain Tables, Domain Table Keys, Domain Table Entries</a:t>
                      </a:r>
                    </a:p>
                  </a:txBody>
                  <a:tcPr marL="54864" marR="54864" marT="22860" marB="22860" anchor="ctr">
                    <a:solidFill>
                      <a:srgbClr val="EEF2F9"/>
                    </a:solidFill>
                  </a:tcPr>
                </a:tc>
                <a:tc>
                  <a:txBody>
                    <a:bodyPr wrap="square"/>
                    <a:lstStyle/>
                    <a:p>
                      <a:r>
                        <a:rPr sz="1100" b="0">
                          <a:solidFill>
                            <a:srgbClr val="1F2937"/>
                          </a:solidFill>
                          <a:latin typeface="Calibri"/>
                        </a:rPr>
                        <a:t>Pages, fields, labels, required, defaults, dropdown lists, show/hide conditions</a:t>
                      </a:r>
                    </a:p>
                  </a:txBody>
                  <a:tcPr marL="54864" marR="54864" marT="22860" marB="22860" anchor="ctr">
                    <a:solidFill>
                      <a:srgbClr val="EEF2F9"/>
                    </a:solidFill>
                  </a:tcPr>
                </a:tc>
              </a:tr>
              <a:tr h="566928">
                <a:tc>
                  <a:txBody>
                    <a:bodyPr wrap="square"/>
                    <a:lstStyle/>
                    <a:p>
                      <a:r>
                        <a:rPr sz="1100" b="0">
                          <a:solidFill>
                            <a:srgbClr val="1F2937"/>
                          </a:solidFill>
                          <a:latin typeface="Calibri"/>
                        </a:rPr>
                        <a:t>DS (data structure) CU-AK</a:t>
                      </a:r>
                    </a:p>
                  </a:txBody>
                  <a:tcPr marL="54864" marR="54864" marT="22860" marB="22860" anchor="ctr">
                    <a:solidFill>
                      <a:srgbClr val="FFFFFF"/>
                    </a:solidFill>
                  </a:tcPr>
                </a:tc>
                <a:tc>
                  <a:txBody>
                    <a:bodyPr wrap="square"/>
                    <a:lstStyle/>
                    <a:p>
                      <a:r>
                        <a:rPr sz="1100" b="0">
                          <a:solidFill>
                            <a:srgbClr val="1F2937"/>
                          </a:solidFill>
                          <a:latin typeface="Calibri"/>
                        </a:rPr>
                        <a:t>Column Details</a:t>
                      </a:r>
                    </a:p>
                  </a:txBody>
                  <a:tcPr marL="54864" marR="54864" marT="22860" marB="22860" anchor="ctr">
                    <a:solidFill>
                      <a:srgbClr val="FFFFFF"/>
                    </a:solidFill>
                  </a:tcPr>
                </a:tc>
                <a:tc>
                  <a:txBody>
                    <a:bodyPr wrap="square"/>
                    <a:lstStyle/>
                    <a:p>
                      <a:r>
                        <a:rPr sz="1100" b="0">
                          <a:solidFill>
                            <a:srgbClr val="1F2937"/>
                          </a:solidFill>
                          <a:latin typeface="Calibri"/>
                        </a:rPr>
                        <a:t>Field type and size (number, date, text length)</a:t>
                      </a:r>
                    </a:p>
                  </a:txBody>
                  <a:tcPr marL="54864" marR="54864" marT="22860" marB="22860" anchor="ctr">
                    <a:solidFill>
                      <a:srgbClr val="FFFFFF"/>
                    </a:solidFill>
                  </a:tcPr>
                </a:tc>
              </a:tr>
              <a:tr h="566928">
                <a:tc>
                  <a:txBody>
                    <a:bodyPr wrap="square"/>
                    <a:lstStyle/>
                    <a:p>
                      <a:r>
                        <a:rPr sz="1100" b="0">
                          <a:solidFill>
                            <a:srgbClr val="1F2937"/>
                          </a:solidFill>
                          <a:latin typeface="Calibri"/>
                        </a:rPr>
                        <a:t>ALG (algorithms) CU-AK, human readable</a:t>
                      </a:r>
                    </a:p>
                  </a:txBody>
                  <a:tcPr marL="54864" marR="54864" marT="22860" marB="22860" anchor="ctr">
                    <a:solidFill>
                      <a:srgbClr val="EEF2F9"/>
                    </a:solidFill>
                  </a:tcPr>
                </a:tc>
                <a:tc>
                  <a:txBody>
                    <a:bodyPr wrap="square"/>
                    <a:lstStyle/>
                    <a:p>
                      <a:r>
                        <a:rPr sz="1100" b="0">
                          <a:solidFill>
                            <a:srgbClr val="1F2937"/>
                          </a:solidFill>
                          <a:latin typeface="Calibri"/>
                        </a:rPr>
                        <a:t>Err-* sheets and ErrorMessages</a:t>
                      </a:r>
                    </a:p>
                  </a:txBody>
                  <a:tcPr marL="54864" marR="54864" marT="22860" marB="22860" anchor="ctr">
                    <a:solidFill>
                      <a:srgbClr val="EEF2F9"/>
                    </a:solidFill>
                  </a:tcPr>
                </a:tc>
                <a:tc>
                  <a:txBody>
                    <a:bodyPr wrap="square"/>
                    <a:lstStyle/>
                    <a:p>
                      <a:r>
                        <a:rPr sz="1100" b="0">
                          <a:solidFill>
                            <a:srgbClr val="1F2937"/>
                          </a:solidFill>
                          <a:latin typeface="Calibri"/>
                        </a:rPr>
                        <a:t>Check rules and their exact messages</a:t>
                      </a:r>
                    </a:p>
                  </a:txBody>
                  <a:tcPr marL="54864" marR="54864" marT="22860" marB="22860" anchor="ctr">
                    <a:solidFill>
                      <a:srgbClr val="EEF2F9"/>
                    </a:solidFill>
                  </a:tcPr>
                </a:tc>
              </a:tr>
              <a:tr h="566928">
                <a:tc>
                  <a:txBody>
                    <a:bodyPr wrap="square"/>
                    <a:lstStyle/>
                    <a:p>
                      <a:r>
                        <a:rPr sz="1100" b="0">
                          <a:solidFill>
                            <a:srgbClr val="1F2937"/>
                          </a:solidFill>
                          <a:latin typeface="Calibri"/>
                        </a:rPr>
                        <a:t>TC (sample test case), DOC</a:t>
                      </a:r>
                    </a:p>
                  </a:txBody>
                  <a:tcPr marL="54864" marR="54864" marT="22860" marB="22860" anchor="ctr">
                    <a:solidFill>
                      <a:srgbClr val="FFFFFF"/>
                    </a:solidFill>
                  </a:tcPr>
                </a:tc>
                <a:tc>
                  <a:txBody>
                    <a:bodyPr wrap="square"/>
                    <a:lstStyle/>
                    <a:p>
                      <a:r>
                        <a:rPr sz="1100" b="0">
                          <a:solidFill>
                            <a:srgbClr val="1F2937"/>
                          </a:solidFill>
                          <a:latin typeface="Calibri"/>
                        </a:rPr>
                        <a:t>Input; Refer to Company</a:t>
                      </a:r>
                    </a:p>
                  </a:txBody>
                  <a:tcPr marL="54864" marR="54864" marT="22860" marB="22860" anchor="ctr">
                    <a:solidFill>
                      <a:srgbClr val="FFFFFF"/>
                    </a:solidFill>
                  </a:tcPr>
                </a:tc>
                <a:tc>
                  <a:txBody>
                    <a:bodyPr wrap="square"/>
                    <a:lstStyle/>
                    <a:p>
                      <a:r>
                        <a:rPr sz="1100" b="0">
                          <a:solidFill>
                            <a:srgbClr val="1F2937"/>
                          </a:solidFill>
                          <a:latin typeface="Calibri"/>
                        </a:rPr>
                        <a:t>Sample values and manual-rating notes (reference only)</a:t>
                      </a:r>
                    </a:p>
                  </a:txBody>
                  <a:tcPr marL="54864" marR="54864" marT="22860" marB="22860" anchor="ctr">
                    <a:solidFill>
                      <a:srgbClr val="FFFFFF"/>
                    </a:solidFill>
                  </a:tcPr>
                </a:tc>
              </a:tr>
              <a:tr h="566928">
                <a:tc>
                  <a:txBody>
                    <a:bodyPr wrap="square"/>
                    <a:lstStyle/>
                    <a:p>
                      <a:r>
                        <a:rPr sz="1100" b="0">
                          <a:solidFill>
                            <a:srgbClr val="1F2937"/>
                          </a:solidFill>
                          <a:latin typeface="Calibri"/>
                        </a:rPr>
                        <a:t>General Liability and SWP screens you sent</a:t>
                      </a:r>
                    </a:p>
                  </a:txBody>
                  <a:tcPr marL="54864" marR="54864" marT="22860" marB="22860" anchor="ctr">
                    <a:solidFill>
                      <a:srgbClr val="EEF2F9"/>
                    </a:solidFill>
                  </a:tcPr>
                </a:tc>
                <a:tc>
                  <a:txBody>
                    <a:bodyPr wrap="square"/>
                    <a:lstStyle/>
                    <a:p>
                      <a:r>
                        <a:rPr sz="1100" b="0">
                          <a:solidFill>
                            <a:srgbClr val="1F2937"/>
                          </a:solidFill>
                          <a:latin typeface="Calibri"/>
                        </a:rPr>
                        <a:t>Page data, screenshots</a:t>
                      </a:r>
                    </a:p>
                  </a:txBody>
                  <a:tcPr marL="54864" marR="54864" marT="22860" marB="22860" anchor="ctr">
                    <a:solidFill>
                      <a:srgbClr val="EEF2F9"/>
                    </a:solidFill>
                  </a:tcPr>
                </a:tc>
                <a:tc>
                  <a:txBody>
                    <a:bodyPr wrap="square"/>
                    <a:lstStyle/>
                    <a:p>
                      <a:r>
                        <a:rPr sz="1100" b="0">
                          <a:solidFill>
                            <a:srgbClr val="1F2937"/>
                          </a:solidFill>
                          <a:latin typeface="Calibri"/>
                        </a:rPr>
                        <a:t>Screen flow: State, then Policy, then lower levels; page look</a:t>
                      </a:r>
                    </a:p>
                  </a:txBody>
                  <a:tcPr marL="54864" marR="54864" marT="22860" marB="22860" anchor="ctr">
                    <a:solidFill>
                      <a:srgbClr val="EEF2F9"/>
                    </a:solidFill>
                  </a:tcPr>
                </a:tc>
              </a:tr>
              <a:tr h="566928">
                <a:tc>
                  <a:txBody>
                    <a:bodyPr wrap="square"/>
                    <a:lstStyle/>
                    <a:p>
                      <a:r>
                        <a:rPr sz="1100" b="0">
                          <a:solidFill>
                            <a:srgbClr val="1F2937"/>
                          </a:solidFill>
                          <a:latin typeface="Calibri"/>
                        </a:rPr>
                        <a:t>Web: ACORD 131, ISO CU DS 01</a:t>
                      </a:r>
                    </a:p>
                  </a:txBody>
                  <a:tcPr marL="54864" marR="54864" marT="22860" marB="22860" anchor="ctr">
                    <a:solidFill>
                      <a:srgbClr val="FFFFFF"/>
                    </a:solidFill>
                  </a:tcPr>
                </a:tc>
                <a:tc>
                  <a:txBody>
                    <a:bodyPr wrap="square"/>
                    <a:lstStyle/>
                    <a:p>
                      <a:r>
                        <a:rPr sz="1100" b="0">
                          <a:solidFill>
                            <a:srgbClr val="1F2937"/>
                          </a:solidFill>
                          <a:latin typeface="Calibri"/>
                        </a:rPr>
                        <a:t>Public form descriptions</a:t>
                      </a:r>
                    </a:p>
                  </a:txBody>
                  <a:tcPr marL="54864" marR="54864" marT="22860" marB="22860" anchor="ctr">
                    <a:solidFill>
                      <a:srgbClr val="FFFFFF"/>
                    </a:solidFill>
                  </a:tcPr>
                </a:tc>
                <a:tc>
                  <a:txBody>
                    <a:bodyPr wrap="square"/>
                    <a:lstStyle/>
                    <a:p>
                      <a:r>
                        <a:rPr sz="1100" b="0">
                          <a:solidFill>
                            <a:srgbClr val="1F2937"/>
                          </a:solidFill>
                          <a:latin typeface="Calibri"/>
                        </a:rPr>
                        <a:t>Cross-check only: umbrella = policy + one list of underlying policies</a:t>
                      </a:r>
                    </a:p>
                  </a:txBody>
                  <a:tcPr marL="54864" marR="54864" marT="22860" marB="22860" anchor="ctr">
                    <a:solidFill>
                      <a:srgbClr val="FFFFFF"/>
                    </a:solidFill>
                  </a:tcPr>
                </a:tc>
              </a:tr>
            </a:tbl>
          </a:graphicData>
        </a:graphic>
      </p:graphicFrame>
      <p:sp>
        <p:nvSpPr>
          <p:cNvPr id="9" name="TextBox 8"/>
          <p:cNvSpPr txBox="1"/>
          <p:nvPr/>
        </p:nvSpPr>
        <p:spPr>
          <a:xfrm>
            <a:off x="457200" y="5623560"/>
            <a:ext cx="11247120" cy="457200"/>
          </a:xfrm>
          <a:prstGeom prst="rect">
            <a:avLst/>
          </a:prstGeom>
          <a:noFill/>
        </p:spPr>
        <p:txBody>
          <a:bodyPr wrap="square" anchor="t" lIns="45720" rIns="45720">
            <a:spAutoFit/>
          </a:bodyPr>
          <a:lstStyle/>
          <a:p>
            <a:pPr algn="l">
              <a:spcAft>
                <a:spcPts val="400"/>
              </a:spcAft>
            </a:pPr>
            <a:r>
              <a:rPr sz="1200" b="0" i="0">
                <a:solidFill>
                  <a:srgbClr val="6B7280"/>
                </a:solidFill>
                <a:latin typeface="Calibri"/>
              </a:rPr>
              <a:t>Read but not used for screens: RC (changes report), AMF feed, release notes, ALG rating sheets, rating tables.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How the Screen Is Organised</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4</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Guide p.79; FRC Page sheet (Parent column); General Liability screens</a:t>
            </a:r>
          </a:p>
        </p:txBody>
      </p:sp>
      <p:sp>
        <p:nvSpPr>
          <p:cNvPr id="8" name="Rectangle 7"/>
          <p:cNvSpPr/>
          <p:nvPr/>
        </p:nvSpPr>
        <p:spPr>
          <a:xfrm>
            <a:off x="640080" y="1371600"/>
            <a:ext cx="3108960" cy="8686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17320"/>
            <a:ext cx="3108960" cy="477773"/>
          </a:xfrm>
          <a:prstGeom prst="rect">
            <a:avLst/>
          </a:prstGeom>
          <a:noFill/>
        </p:spPr>
        <p:txBody>
          <a:bodyPr wrap="square" anchor="ctr" lIns="45720" rIns="45720">
            <a:spAutoFit/>
          </a:bodyPr>
          <a:lstStyle/>
          <a:p>
            <a:pPr algn="ctr">
              <a:spcAft>
                <a:spcPts val="400"/>
              </a:spcAft>
            </a:pPr>
            <a:r>
              <a:rPr sz="1500" b="1" i="0">
                <a:solidFill>
                  <a:srgbClr val="FFFFFF"/>
                </a:solidFill>
                <a:latin typeface="Calibri"/>
              </a:rPr>
              <a:t>Commercial Umbrella</a:t>
            </a:r>
          </a:p>
        </p:txBody>
      </p:sp>
      <p:sp>
        <p:nvSpPr>
          <p:cNvPr id="10" name="TextBox 9"/>
          <p:cNvSpPr txBox="1"/>
          <p:nvPr/>
        </p:nvSpPr>
        <p:spPr>
          <a:xfrm>
            <a:off x="640080" y="1805940"/>
            <a:ext cx="3108960" cy="434340"/>
          </a:xfrm>
          <a:prstGeom prst="rect">
            <a:avLst/>
          </a:prstGeom>
          <a:noFill/>
        </p:spPr>
        <p:txBody>
          <a:bodyPr wrap="square" anchor="t" lIns="45720" rIns="45720">
            <a:spAutoFit/>
          </a:bodyPr>
          <a:lstStyle/>
          <a:p>
            <a:pPr algn="ctr">
              <a:spcAft>
                <a:spcPts val="400"/>
              </a:spcAft>
            </a:pPr>
            <a:r>
              <a:rPr sz="1050" b="0" i="0">
                <a:solidFill>
                  <a:srgbClr val="EBF0FA"/>
                </a:solidFill>
                <a:latin typeface="Calibri"/>
              </a:rPr>
              <a:t>LOB page checkbox</a:t>
            </a:r>
          </a:p>
        </p:txBody>
      </p:sp>
      <p:sp>
        <p:nvSpPr>
          <p:cNvPr id="11" name="Rectangle 10"/>
          <p:cNvSpPr/>
          <p:nvPr/>
        </p:nvSpPr>
        <p:spPr>
          <a:xfrm>
            <a:off x="4114800" y="1371600"/>
            <a:ext cx="3108960" cy="8686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1417320"/>
            <a:ext cx="3108960" cy="477773"/>
          </a:xfrm>
          <a:prstGeom prst="rect">
            <a:avLst/>
          </a:prstGeom>
          <a:noFill/>
        </p:spPr>
        <p:txBody>
          <a:bodyPr wrap="square" anchor="ctr" lIns="45720" rIns="45720">
            <a:spAutoFit/>
          </a:bodyPr>
          <a:lstStyle/>
          <a:p>
            <a:pPr algn="ctr">
              <a:spcAft>
                <a:spcPts val="400"/>
              </a:spcAft>
            </a:pPr>
            <a:r>
              <a:rPr sz="1500" b="1" i="0">
                <a:solidFill>
                  <a:srgbClr val="FFFFFF"/>
                </a:solidFill>
                <a:latin typeface="Calibri"/>
              </a:rPr>
              <a:t>Policy (one per State)</a:t>
            </a:r>
          </a:p>
        </p:txBody>
      </p:sp>
      <p:sp>
        <p:nvSpPr>
          <p:cNvPr id="13" name="TextBox 12"/>
          <p:cNvSpPr txBox="1"/>
          <p:nvPr/>
        </p:nvSpPr>
        <p:spPr>
          <a:xfrm>
            <a:off x="4114800" y="1805940"/>
            <a:ext cx="3108960" cy="434340"/>
          </a:xfrm>
          <a:prstGeom prst="rect">
            <a:avLst/>
          </a:prstGeom>
          <a:noFill/>
        </p:spPr>
        <p:txBody>
          <a:bodyPr wrap="square" anchor="t" lIns="45720" rIns="45720">
            <a:spAutoFit/>
          </a:bodyPr>
          <a:lstStyle/>
          <a:p>
            <a:pPr algn="ctr">
              <a:spcAft>
                <a:spcPts val="400"/>
              </a:spcAft>
            </a:pPr>
            <a:r>
              <a:rPr sz="1050" b="0" i="0">
                <a:solidFill>
                  <a:srgbClr val="EBF0FA"/>
                </a:solidFill>
                <a:latin typeface="Calibri"/>
              </a:rPr>
              <a:t>Policy Detail page</a:t>
            </a:r>
          </a:p>
        </p:txBody>
      </p:sp>
      <p:sp>
        <p:nvSpPr>
          <p:cNvPr id="14" name="Rectangle 13"/>
          <p:cNvSpPr/>
          <p:nvPr/>
        </p:nvSpPr>
        <p:spPr>
          <a:xfrm>
            <a:off x="7589520" y="1371600"/>
            <a:ext cx="3931920" cy="8686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1417320"/>
            <a:ext cx="3931920" cy="477773"/>
          </a:xfrm>
          <a:prstGeom prst="rect">
            <a:avLst/>
          </a:prstGeom>
          <a:noFill/>
        </p:spPr>
        <p:txBody>
          <a:bodyPr wrap="square" anchor="ctr" lIns="45720" rIns="45720">
            <a:spAutoFit/>
          </a:bodyPr>
          <a:lstStyle/>
          <a:p>
            <a:pPr algn="ctr">
              <a:spcAft>
                <a:spcPts val="400"/>
              </a:spcAft>
            </a:pPr>
            <a:r>
              <a:rPr sz="1500" b="1" i="0">
                <a:solidFill>
                  <a:srgbClr val="FFFFFF"/>
                </a:solidFill>
                <a:latin typeface="Calibri"/>
              </a:rPr>
              <a:t>Underlying insurance</a:t>
            </a:r>
          </a:p>
        </p:txBody>
      </p:sp>
      <p:sp>
        <p:nvSpPr>
          <p:cNvPr id="16" name="TextBox 15"/>
          <p:cNvSpPr txBox="1"/>
          <p:nvPr/>
        </p:nvSpPr>
        <p:spPr>
          <a:xfrm>
            <a:off x="7589520" y="1805940"/>
            <a:ext cx="3931920" cy="434340"/>
          </a:xfrm>
          <a:prstGeom prst="rect">
            <a:avLst/>
          </a:prstGeom>
          <a:noFill/>
        </p:spPr>
        <p:txBody>
          <a:bodyPr wrap="square" anchor="t" lIns="45720" rIns="45720">
            <a:spAutoFit/>
          </a:bodyPr>
          <a:lstStyle/>
          <a:p>
            <a:pPr algn="ctr">
              <a:spcAft>
                <a:spcPts val="400"/>
              </a:spcAft>
            </a:pPr>
            <a:r>
              <a:rPr sz="1050" b="0" i="0">
                <a:solidFill>
                  <a:srgbClr val="EBF0FA"/>
                </a:solidFill>
                <a:latin typeface="Calibri"/>
              </a:rPr>
              <a:t>9 groups, direct children of Policy</a:t>
            </a:r>
          </a:p>
        </p:txBody>
      </p:sp>
      <p:sp>
        <p:nvSpPr>
          <p:cNvPr id="17" name="TextBox 16"/>
          <p:cNvSpPr txBox="1"/>
          <p:nvPr/>
        </p:nvSpPr>
        <p:spPr>
          <a:xfrm>
            <a:off x="3749040" y="1481328"/>
            <a:ext cx="411480" cy="548640"/>
          </a:xfrm>
          <a:prstGeom prst="rect">
            <a:avLst/>
          </a:prstGeom>
          <a:noFill/>
        </p:spPr>
        <p:txBody>
          <a:bodyPr wrap="square" anchor="t" lIns="45720" rIns="45720">
            <a:spAutoFit/>
          </a:bodyPr>
          <a:lstStyle/>
          <a:p>
            <a:pPr algn="ctr">
              <a:spcAft>
                <a:spcPts val="400"/>
              </a:spcAft>
            </a:pPr>
            <a:r>
              <a:rPr sz="1800" b="0" i="0">
                <a:solidFill>
                  <a:srgbClr val="6B7280"/>
                </a:solidFill>
                <a:latin typeface="Calibri"/>
              </a:rPr>
              <a:t>▶</a:t>
            </a:r>
          </a:p>
        </p:txBody>
      </p:sp>
      <p:sp>
        <p:nvSpPr>
          <p:cNvPr id="18" name="TextBox 17"/>
          <p:cNvSpPr txBox="1"/>
          <p:nvPr/>
        </p:nvSpPr>
        <p:spPr>
          <a:xfrm>
            <a:off x="7223760" y="1481328"/>
            <a:ext cx="411480" cy="548640"/>
          </a:xfrm>
          <a:prstGeom prst="rect">
            <a:avLst/>
          </a:prstGeom>
          <a:noFill/>
        </p:spPr>
        <p:txBody>
          <a:bodyPr wrap="square" anchor="t" lIns="45720" rIns="45720">
            <a:spAutoFit/>
          </a:bodyPr>
          <a:lstStyle/>
          <a:p>
            <a:pPr algn="ctr">
              <a:spcAft>
                <a:spcPts val="400"/>
              </a:spcAft>
            </a:pPr>
            <a:r>
              <a:rPr sz="1800" b="0" i="0">
                <a:solidFill>
                  <a:srgbClr val="6B7280"/>
                </a:solidFill>
                <a:latin typeface="Calibri"/>
              </a:rPr>
              <a:t>▶</a:t>
            </a:r>
          </a:p>
        </p:txBody>
      </p:sp>
      <p:sp>
        <p:nvSpPr>
          <p:cNvPr id="19" name="Rectangle 18"/>
          <p:cNvSpPr/>
          <p:nvPr/>
        </p:nvSpPr>
        <p:spPr>
          <a:xfrm>
            <a:off x="640080" y="274320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2743200"/>
            <a:ext cx="82296" cy="8686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281635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1. Aircraft Liability</a:t>
            </a:r>
          </a:p>
        </p:txBody>
      </p:sp>
      <p:sp>
        <p:nvSpPr>
          <p:cNvPr id="22" name="TextBox 21"/>
          <p:cNvSpPr txBox="1"/>
          <p:nvPr/>
        </p:nvSpPr>
        <p:spPr>
          <a:xfrm>
            <a:off x="822959" y="320040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23" name="Rectangle 22"/>
          <p:cNvSpPr/>
          <p:nvPr/>
        </p:nvSpPr>
        <p:spPr>
          <a:xfrm>
            <a:off x="4389120" y="274320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2743200"/>
            <a:ext cx="82296" cy="8686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281635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2. BOP</a:t>
            </a:r>
          </a:p>
        </p:txBody>
      </p:sp>
      <p:sp>
        <p:nvSpPr>
          <p:cNvPr id="26" name="TextBox 25"/>
          <p:cNvSpPr txBox="1"/>
          <p:nvPr/>
        </p:nvSpPr>
        <p:spPr>
          <a:xfrm>
            <a:off x="4572000" y="320040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27" name="Rectangle 26"/>
          <p:cNvSpPr/>
          <p:nvPr/>
        </p:nvSpPr>
        <p:spPr>
          <a:xfrm>
            <a:off x="8138159" y="274320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59" y="2743200"/>
            <a:ext cx="82296" cy="8686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39" y="281635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3. Commercial Auto</a:t>
            </a:r>
          </a:p>
        </p:txBody>
      </p:sp>
      <p:sp>
        <p:nvSpPr>
          <p:cNvPr id="30" name="TextBox 29"/>
          <p:cNvSpPr txBox="1"/>
          <p:nvPr/>
        </p:nvSpPr>
        <p:spPr>
          <a:xfrm>
            <a:off x="8321039" y="320040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31" name="Rectangle 30"/>
          <p:cNvSpPr/>
          <p:nvPr/>
        </p:nvSpPr>
        <p:spPr>
          <a:xfrm>
            <a:off x="640080" y="379476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3794760"/>
            <a:ext cx="82296" cy="8686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 y="386791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4. Auto Dealers</a:t>
            </a:r>
          </a:p>
        </p:txBody>
      </p:sp>
      <p:sp>
        <p:nvSpPr>
          <p:cNvPr id="34" name="TextBox 33"/>
          <p:cNvSpPr txBox="1"/>
          <p:nvPr/>
        </p:nvSpPr>
        <p:spPr>
          <a:xfrm>
            <a:off x="822959" y="425196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1 row only</a:t>
            </a:r>
          </a:p>
        </p:txBody>
      </p:sp>
      <p:sp>
        <p:nvSpPr>
          <p:cNvPr id="35" name="Rectangle 34"/>
          <p:cNvSpPr/>
          <p:nvPr/>
        </p:nvSpPr>
        <p:spPr>
          <a:xfrm>
            <a:off x="4389120" y="379476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89120" y="3794760"/>
            <a:ext cx="82296" cy="868680"/>
          </a:xfrm>
          <a:prstGeom prst="rect">
            <a:avLst/>
          </a:prstGeom>
          <a:solidFill>
            <a:srgbClr val="CC3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386791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5. General Liability</a:t>
            </a:r>
          </a:p>
        </p:txBody>
      </p:sp>
      <p:sp>
        <p:nvSpPr>
          <p:cNvPr id="38" name="TextBox 37"/>
          <p:cNvSpPr txBox="1"/>
          <p:nvPr/>
        </p:nvSpPr>
        <p:spPr>
          <a:xfrm>
            <a:off x="4572000" y="425196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39" name="Rectangle 38"/>
          <p:cNvSpPr/>
          <p:nvPr/>
        </p:nvSpPr>
        <p:spPr>
          <a:xfrm>
            <a:off x="8138159" y="379476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38159" y="3794760"/>
            <a:ext cx="82296" cy="86868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39" y="386791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6. Employers Liability</a:t>
            </a:r>
          </a:p>
        </p:txBody>
      </p:sp>
      <p:sp>
        <p:nvSpPr>
          <p:cNvPr id="42" name="TextBox 41"/>
          <p:cNvSpPr txBox="1"/>
          <p:nvPr/>
        </p:nvSpPr>
        <p:spPr>
          <a:xfrm>
            <a:off x="8321039" y="425196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43" name="Rectangle 42"/>
          <p:cNvSpPr/>
          <p:nvPr/>
        </p:nvSpPr>
        <p:spPr>
          <a:xfrm>
            <a:off x="640080" y="484632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080" y="4846320"/>
            <a:ext cx="82296" cy="8686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 y="491947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7. Liquor</a:t>
            </a:r>
          </a:p>
        </p:txBody>
      </p:sp>
      <p:sp>
        <p:nvSpPr>
          <p:cNvPr id="46" name="TextBox 45"/>
          <p:cNvSpPr txBox="1"/>
          <p:nvPr/>
        </p:nvSpPr>
        <p:spPr>
          <a:xfrm>
            <a:off x="822959" y="530352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47" name="Rectangle 46"/>
          <p:cNvSpPr/>
          <p:nvPr/>
        </p:nvSpPr>
        <p:spPr>
          <a:xfrm>
            <a:off x="4389120" y="484632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389120" y="4846320"/>
            <a:ext cx="82296" cy="8686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0" y="491947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8. Watercraft</a:t>
            </a:r>
          </a:p>
        </p:txBody>
      </p:sp>
      <p:sp>
        <p:nvSpPr>
          <p:cNvPr id="50" name="TextBox 49"/>
          <p:cNvSpPr txBox="1"/>
          <p:nvPr/>
        </p:nvSpPr>
        <p:spPr>
          <a:xfrm>
            <a:off x="4572000" y="530352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51" name="Rectangle 50"/>
          <p:cNvSpPr/>
          <p:nvPr/>
        </p:nvSpPr>
        <p:spPr>
          <a:xfrm>
            <a:off x="8138159" y="484632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138159" y="4846320"/>
            <a:ext cx="82296" cy="8686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21039" y="491947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9. Other Liability</a:t>
            </a:r>
          </a:p>
        </p:txBody>
      </p:sp>
      <p:sp>
        <p:nvSpPr>
          <p:cNvPr id="54" name="TextBox 53"/>
          <p:cNvSpPr txBox="1"/>
          <p:nvPr/>
        </p:nvSpPr>
        <p:spPr>
          <a:xfrm>
            <a:off x="8321039" y="530352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55" name="TextBox 54"/>
          <p:cNvSpPr txBox="1"/>
          <p:nvPr/>
        </p:nvSpPr>
        <p:spPr>
          <a:xfrm>
            <a:off x="640080" y="5852160"/>
            <a:ext cx="10972800" cy="320040"/>
          </a:xfrm>
          <a:prstGeom prst="rect">
            <a:avLst/>
          </a:prstGeom>
          <a:noFill/>
        </p:spPr>
        <p:txBody>
          <a:bodyPr wrap="square" anchor="t" lIns="45720" rIns="45720">
            <a:spAutoFit/>
          </a:bodyPr>
          <a:lstStyle/>
          <a:p>
            <a:pPr algn="l">
              <a:spcAft>
                <a:spcPts val="400"/>
              </a:spcAft>
            </a:pPr>
            <a:r>
              <a:rPr sz="1300" b="1" i="0">
                <a:solidFill>
                  <a:srgbClr val="0B3B7A"/>
                </a:solidFill>
                <a:latin typeface="Calibri"/>
              </a:rPr>
              <a:t>No Location or Classification level, unlike General Liability.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Why This Hierarchy</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5</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Guide p.79 and p.82; FRC Page sheet; user-supplied General Liability metadata; ACORD 131; ISO CU DS 01</a:t>
            </a:r>
          </a:p>
        </p:txBody>
      </p:sp>
      <p:graphicFrame>
        <p:nvGraphicFramePr>
          <p:cNvPr id="8" name="Table 7"/>
          <p:cNvGraphicFramePr>
            <a:graphicFrameLocks noGrp="1"/>
          </p:cNvGraphicFramePr>
          <p:nvPr/>
        </p:nvGraphicFramePr>
        <p:xfrm>
          <a:off x="457200" y="1188720"/>
          <a:ext cx="11292840" cy="4297680"/>
        </p:xfrm>
        <a:graphic>
          <a:graphicData uri="http://schemas.openxmlformats.org/drawingml/2006/table">
            <a:tbl>
              <a:tblPr firstRow="1" bandRow="1">
                <a:tableStyleId>{5C22544A-7EE6-4342-B048-85BDC9FD1C3A}</a:tableStyleId>
              </a:tblPr>
              <a:tblGrid>
                <a:gridCol w="2651760"/>
                <a:gridCol w="3566160"/>
                <a:gridCol w="5074920"/>
              </a:tblGrid>
              <a:tr h="347472">
                <a:tc>
                  <a:txBody>
                    <a:bodyPr wrap="square"/>
                    <a:lstStyle/>
                    <a:p>
                      <a:r>
                        <a:rPr sz="1150" b="1">
                          <a:solidFill>
                            <a:srgbClr val="FFFFFF"/>
                          </a:solidFill>
                          <a:latin typeface="Calibri"/>
                        </a:rPr>
                        <a:t>Evidence</a:t>
                      </a:r>
                    </a:p>
                  </a:txBody>
                  <a:tcPr marL="54864" marR="54864" marT="22860" marB="22860" anchor="ctr">
                    <a:solidFill>
                      <a:srgbClr val="0B3B7A"/>
                    </a:solidFill>
                  </a:tcPr>
                </a:tc>
                <a:tc>
                  <a:txBody>
                    <a:bodyPr wrap="square"/>
                    <a:lstStyle/>
                    <a:p>
                      <a:r>
                        <a:rPr sz="1150" b="1">
                          <a:solidFill>
                            <a:srgbClr val="FFFFFF"/>
                          </a:solidFill>
                          <a:latin typeface="Calibri"/>
                        </a:rPr>
                        <a:t>File</a:t>
                      </a:r>
                    </a:p>
                  </a:txBody>
                  <a:tcPr marL="54864" marR="54864" marT="22860" marB="22860" anchor="ctr">
                    <a:solidFill>
                      <a:srgbClr val="0B3B7A"/>
                    </a:solidFill>
                  </a:tcPr>
                </a:tc>
                <a:tc>
                  <a:txBody>
                    <a:bodyPr wrap="square"/>
                    <a:lstStyle/>
                    <a:p>
                      <a:r>
                        <a:rPr sz="1150" b="1">
                          <a:solidFill>
                            <a:srgbClr val="FFFFFF"/>
                          </a:solidFill>
                          <a:latin typeface="Calibri"/>
                        </a:rPr>
                        <a:t>What it shows</a:t>
                      </a:r>
                    </a:p>
                  </a:txBody>
                  <a:tcPr marL="54864" marR="54864" marT="22860" marB="22860" anchor="ctr">
                    <a:solidFill>
                      <a:srgbClr val="0B3B7A"/>
                    </a:solidFill>
                  </a:tcPr>
                </a:tc>
              </a:tr>
              <a:tr h="658368">
                <a:tc>
                  <a:txBody>
                    <a:bodyPr wrap="square"/>
                    <a:lstStyle/>
                    <a:p>
                      <a:r>
                        <a:rPr sz="1150" b="0">
                          <a:solidFill>
                            <a:srgbClr val="1F2937"/>
                          </a:solidFill>
                          <a:latin typeface="Calibri"/>
                        </a:rPr>
                        <a:t>Guide diagram for CU</a:t>
                      </a:r>
                    </a:p>
                  </a:txBody>
                  <a:tcPr marL="54864" marR="54864" marT="22860" marB="22860" anchor="ctr">
                    <a:solidFill>
                      <a:srgbClr val="FFFFFF"/>
                    </a:solidFill>
                  </a:tcPr>
                </a:tc>
                <a:tc>
                  <a:txBody>
                    <a:bodyPr wrap="square"/>
                    <a:lstStyle/>
                    <a:p>
                      <a:r>
                        <a:rPr sz="1150" b="0">
                          <a:solidFill>
                            <a:srgbClr val="1F2937"/>
                          </a:solidFill>
                          <a:latin typeface="Calibri"/>
                        </a:rPr>
                        <a:t>ISO ERC Suite Product Guide p.79</a:t>
                      </a:r>
                    </a:p>
                  </a:txBody>
                  <a:tcPr marL="54864" marR="54864" marT="22860" marB="22860" anchor="ctr">
                    <a:solidFill>
                      <a:srgbClr val="FFFFFF"/>
                    </a:solidFill>
                  </a:tcPr>
                </a:tc>
                <a:tc>
                  <a:txBody>
                    <a:bodyPr wrap="square"/>
                    <a:lstStyle/>
                    <a:p>
                      <a:r>
                        <a:rPr sz="1150" b="0">
                          <a:solidFill>
                            <a:srgbClr val="1F2937"/>
                          </a:solidFill>
                          <a:latin typeface="Calibri"/>
                        </a:rPr>
                        <a:t>Flat: Policy with Forms, Coverages and 8 risk groups. No Location level</a:t>
                      </a:r>
                    </a:p>
                  </a:txBody>
                  <a:tcPr marL="54864" marR="54864" marT="22860" marB="22860" anchor="ctr">
                    <a:solidFill>
                      <a:srgbClr val="FFFFFF"/>
                    </a:solidFill>
                  </a:tcPr>
                </a:tc>
              </a:tr>
              <a:tr h="658368">
                <a:tc>
                  <a:txBody>
                    <a:bodyPr wrap="square"/>
                    <a:lstStyle/>
                    <a:p>
                      <a:r>
                        <a:rPr sz="1150" b="0">
                          <a:solidFill>
                            <a:srgbClr val="1F2937"/>
                          </a:solidFill>
                          <a:latin typeface="Calibri"/>
                        </a:rPr>
                        <a:t>FRC page tree</a:t>
                      </a:r>
                    </a:p>
                  </a:txBody>
                  <a:tcPr marL="54864" marR="54864" marT="22860" marB="22860" anchor="ctr">
                    <a:solidFill>
                      <a:srgbClr val="EEF2F9"/>
                    </a:solidFill>
                  </a:tcPr>
                </a:tc>
                <a:tc>
                  <a:txBody>
                    <a:bodyPr wrap="square"/>
                    <a:lstStyle/>
                    <a:p>
                      <a:r>
                        <a:rPr sz="1150" b="0">
                          <a:solidFill>
                            <a:srgbClr val="1F2937"/>
                          </a:solidFill>
                          <a:latin typeface="Calibri"/>
                        </a:rPr>
                        <a:t>FRC Page sheet</a:t>
                      </a:r>
                    </a:p>
                  </a:txBody>
                  <a:tcPr marL="54864" marR="54864" marT="22860" marB="22860" anchor="ctr">
                    <a:solidFill>
                      <a:srgbClr val="EEF2F9"/>
                    </a:solidFill>
                  </a:tcPr>
                </a:tc>
                <a:tc>
                  <a:txBody>
                    <a:bodyPr wrap="square"/>
                    <a:lstStyle/>
                    <a:p>
                      <a:r>
                        <a:rPr sz="1150" b="0">
                          <a:solidFill>
                            <a:srgbClr val="1F2937"/>
                          </a:solidFill>
                          <a:latin typeface="Calibri"/>
                        </a:rPr>
                        <a:t>9 risk groups under Policy Detail. Adds Auto Dealers and Other Liability; has no Garage (guide lists Garage)</a:t>
                      </a:r>
                    </a:p>
                  </a:txBody>
                  <a:tcPr marL="54864" marR="54864" marT="22860" marB="22860" anchor="ctr">
                    <a:solidFill>
                      <a:srgbClr val="EEF2F9"/>
                    </a:solidFill>
                  </a:tcPr>
                </a:tc>
              </a:tr>
              <a:tr h="658368">
                <a:tc>
                  <a:txBody>
                    <a:bodyPr wrap="square"/>
                    <a:lstStyle/>
                    <a:p>
                      <a:r>
                        <a:rPr sz="1150" b="0">
                          <a:solidFill>
                            <a:srgbClr val="1F2937"/>
                          </a:solidFill>
                          <a:latin typeface="Calibri"/>
                        </a:rPr>
                        <a:t>Groups come in a fixed order</a:t>
                      </a:r>
                    </a:p>
                  </a:txBody>
                  <a:tcPr marL="54864" marR="54864" marT="22860" marB="22860" anchor="ctr">
                    <a:solidFill>
                      <a:srgbClr val="FFFFFF"/>
                    </a:solidFill>
                  </a:tcPr>
                </a:tc>
                <a:tc>
                  <a:txBody>
                    <a:bodyPr wrap="square"/>
                    <a:lstStyle/>
                    <a:p>
                      <a:r>
                        <a:rPr sz="1150" b="0">
                          <a:solidFill>
                            <a:srgbClr val="1F2937"/>
                          </a:solidFill>
                          <a:latin typeface="Calibri"/>
                        </a:rPr>
                        <a:t>FRC Page sheet, Sequence column</a:t>
                      </a:r>
                    </a:p>
                  </a:txBody>
                  <a:tcPr marL="54864" marR="54864" marT="22860" marB="22860" anchor="ctr">
                    <a:solidFill>
                      <a:srgbClr val="FFFFFF"/>
                    </a:solidFill>
                  </a:tcPr>
                </a:tc>
                <a:tc>
                  <a:txBody>
                    <a:bodyPr wrap="square"/>
                    <a:lstStyle/>
                    <a:p>
                      <a:r>
                        <a:rPr sz="1150" b="0">
                          <a:solidFill>
                            <a:srgbClr val="1F2937"/>
                          </a:solidFill>
                          <a:latin typeface="Calibri"/>
                        </a:rPr>
                        <a:t>Order and row limits (Auto Dealers = 1 row, others many) taken from the sheet</a:t>
                      </a:r>
                    </a:p>
                  </a:txBody>
                  <a:tcPr marL="54864" marR="54864" marT="22860" marB="22860" anchor="ctr">
                    <a:solidFill>
                      <a:srgbClr val="FFFFFF"/>
                    </a:solidFill>
                  </a:tcPr>
                </a:tc>
              </a:tr>
              <a:tr h="658368">
                <a:tc>
                  <a:txBody>
                    <a:bodyPr wrap="square"/>
                    <a:lstStyle/>
                    <a:p>
                      <a:r>
                        <a:rPr sz="1150" b="0">
                          <a:solidFill>
                            <a:srgbClr val="1F2937"/>
                          </a:solidFill>
                          <a:latin typeface="Calibri"/>
                        </a:rPr>
                        <a:t>General Liability screens</a:t>
                      </a:r>
                    </a:p>
                  </a:txBody>
                  <a:tcPr marL="54864" marR="54864" marT="22860" marB="22860" anchor="ctr">
                    <a:solidFill>
                      <a:srgbClr val="EEF2F9"/>
                    </a:solidFill>
                  </a:tcPr>
                </a:tc>
                <a:tc>
                  <a:txBody>
                    <a:bodyPr wrap="square"/>
                    <a:lstStyle/>
                    <a:p>
                      <a:r>
                        <a:rPr sz="1150" b="0">
                          <a:solidFill>
                            <a:srgbClr val="1F2937"/>
                          </a:solidFill>
                          <a:latin typeface="Calibri"/>
                        </a:rPr>
                        <a:t>SWP_1_3_V1 metadata and screenshots you sent</a:t>
                      </a:r>
                    </a:p>
                  </a:txBody>
                  <a:tcPr marL="54864" marR="54864" marT="22860" marB="22860" anchor="ctr">
                    <a:solidFill>
                      <a:srgbClr val="EEF2F9"/>
                    </a:solidFill>
                  </a:tcPr>
                </a:tc>
                <a:tc>
                  <a:txBody>
                    <a:bodyPr wrap="square"/>
                    <a:lstStyle/>
                    <a:p>
                      <a:r>
                        <a:rPr sz="1150" b="0">
                          <a:solidFill>
                            <a:srgbClr val="1F2937"/>
                          </a:solidFill>
                          <a:latin typeface="Calibri"/>
                        </a:rPr>
                        <a:t>State → Policy → Location → Classification. Each level opens in place with a Save</a:t>
                      </a:r>
                    </a:p>
                  </a:txBody>
                  <a:tcPr marL="54864" marR="54864" marT="22860" marB="22860" anchor="ctr">
                    <a:solidFill>
                      <a:srgbClr val="EEF2F9"/>
                    </a:solidFill>
                  </a:tcPr>
                </a:tc>
              </a:tr>
              <a:tr h="658368">
                <a:tc>
                  <a:txBody>
                    <a:bodyPr wrap="square"/>
                    <a:lstStyle/>
                    <a:p>
                      <a:r>
                        <a:rPr sz="1150" b="0">
                          <a:solidFill>
                            <a:srgbClr val="1F2937"/>
                          </a:solidFill>
                          <a:latin typeface="Calibri"/>
                        </a:rPr>
                        <a:t>Industry forms</a:t>
                      </a:r>
                    </a:p>
                  </a:txBody>
                  <a:tcPr marL="54864" marR="54864" marT="22860" marB="22860" anchor="ctr">
                    <a:solidFill>
                      <a:srgbClr val="FFFFFF"/>
                    </a:solidFill>
                  </a:tcPr>
                </a:tc>
                <a:tc>
                  <a:txBody>
                    <a:bodyPr wrap="square"/>
                    <a:lstStyle/>
                    <a:p>
                      <a:r>
                        <a:rPr sz="1150" b="0">
                          <a:solidFill>
                            <a:srgbClr val="1F2937"/>
                          </a:solidFill>
                          <a:latin typeface="Calibri"/>
                        </a:rPr>
                        <a:t>ACORD 131; ISO CU DS 01 (web)</a:t>
                      </a:r>
                    </a:p>
                  </a:txBody>
                  <a:tcPr marL="54864" marR="54864" marT="22860" marB="22860" anchor="ctr">
                    <a:solidFill>
                      <a:srgbClr val="FFFFFF"/>
                    </a:solidFill>
                  </a:tcPr>
                </a:tc>
                <a:tc>
                  <a:txBody>
                    <a:bodyPr wrap="square"/>
                    <a:lstStyle/>
                    <a:p>
                      <a:r>
                        <a:rPr sz="1150" b="0">
                          <a:solidFill>
                            <a:srgbClr val="1F2937"/>
                          </a:solidFill>
                          <a:latin typeface="Calibri"/>
                        </a:rPr>
                        <a:t>Umbrella = policy details + one list of underlying policies. Agrees with the flat layout</a:t>
                      </a:r>
                    </a:p>
                  </a:txBody>
                  <a:tcPr marL="54864" marR="54864" marT="22860" marB="22860" anchor="ctr">
                    <a:solidFill>
                      <a:srgbClr val="FFFFFF"/>
                    </a:solidFill>
                  </a:tcPr>
                </a:tc>
              </a:tr>
              <a:tr h="658368">
                <a:tc>
                  <a:txBody>
                    <a:bodyPr wrap="square"/>
                    <a:lstStyle/>
                    <a:p>
                      <a:r>
                        <a:rPr sz="1150" b="0">
                          <a:solidFill>
                            <a:srgbClr val="1F2937"/>
                          </a:solidFill>
                          <a:latin typeface="Calibri"/>
                        </a:rPr>
                        <a:t>State level</a:t>
                      </a:r>
                    </a:p>
                  </a:txBody>
                  <a:tcPr marL="54864" marR="54864" marT="22860" marB="22860" anchor="ctr">
                    <a:solidFill>
                      <a:srgbClr val="EEF2F9"/>
                    </a:solidFill>
                  </a:tcPr>
                </a:tc>
                <a:tc>
                  <a:txBody>
                    <a:bodyPr wrap="square"/>
                    <a:lstStyle/>
                    <a:p>
                      <a:r>
                        <a:rPr sz="1150" b="0">
                          <a:solidFill>
                            <a:srgbClr val="1F2937"/>
                          </a:solidFill>
                          <a:latin typeface="Calibri"/>
                        </a:rPr>
                        <a:t>General Liability screens (inference)</a:t>
                      </a:r>
                    </a:p>
                  </a:txBody>
                  <a:tcPr marL="54864" marR="54864" marT="22860" marB="22860" anchor="ctr">
                    <a:solidFill>
                      <a:srgbClr val="EEF2F9"/>
                    </a:solidFill>
                  </a:tcPr>
                </a:tc>
                <a:tc>
                  <a:txBody>
                    <a:bodyPr wrap="square"/>
                    <a:lstStyle/>
                    <a:p>
                      <a:r>
                        <a:rPr sz="1150" b="0">
                          <a:solidFill>
                            <a:srgbClr val="1F2937"/>
                          </a:solidFill>
                          <a:latin typeface="Calibri"/>
                        </a:rPr>
                        <a:t>FRC has no State field; CU-AK and CU-CW are separate state files. Kept State as the first step</a:t>
                      </a:r>
                    </a:p>
                  </a:txBody>
                  <a:tcPr marL="54864" marR="54864" marT="22860" marB="22860" anchor="ctr">
                    <a:solidFill>
                      <a:srgbClr val="EEF2F9"/>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Line Of Business Page</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6</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SWP LOB page metadata and screenshots you sent; build/lob-page/cu_lob_page_metadata.json</a:t>
            </a:r>
          </a:p>
        </p:txBody>
      </p:sp>
      <p:graphicFrame>
        <p:nvGraphicFramePr>
          <p:cNvPr id="8" name="Table 7"/>
          <p:cNvGraphicFramePr>
            <a:graphicFrameLocks noGrp="1"/>
          </p:cNvGraphicFramePr>
          <p:nvPr/>
        </p:nvGraphicFramePr>
        <p:xfrm>
          <a:off x="457200" y="1188720"/>
          <a:ext cx="11292839" cy="4005072"/>
        </p:xfrm>
        <a:graphic>
          <a:graphicData uri="http://schemas.openxmlformats.org/drawingml/2006/table">
            <a:tbl>
              <a:tblPr firstRow="1" bandRow="1">
                <a:tableStyleId>{5C22544A-7EE6-4342-B048-85BDC9FD1C3A}</a:tableStyleId>
              </a:tblPr>
              <a:tblGrid>
                <a:gridCol w="2377440"/>
                <a:gridCol w="4937760"/>
                <a:gridCol w="3977639"/>
              </a:tblGrid>
              <a:tr h="347472">
                <a:tc>
                  <a:txBody>
                    <a:bodyPr wrap="square"/>
                    <a:lstStyle/>
                    <a:p>
                      <a:r>
                        <a:rPr sz="1200" b="1">
                          <a:solidFill>
                            <a:srgbClr val="FFFFFF"/>
                          </a:solidFill>
                          <a:latin typeface="Calibri"/>
                        </a:rPr>
                        <a:t>Item on the page</a:t>
                      </a:r>
                    </a:p>
                  </a:txBody>
                  <a:tcPr marL="54864" marR="54864" marT="22860" marB="22860" anchor="ctr">
                    <a:solidFill>
                      <a:srgbClr val="0B3B7A"/>
                    </a:solidFill>
                  </a:tcPr>
                </a:tc>
                <a:tc>
                  <a:txBody>
                    <a:bodyPr wrap="square"/>
                    <a:lstStyle/>
                    <a:p>
                      <a:r>
                        <a:rPr sz="1200" b="1">
                          <a:solidFill>
                            <a:srgbClr val="FFFFFF"/>
                          </a:solidFill>
                          <a:latin typeface="Calibri"/>
                        </a:rPr>
                        <a:t>Value</a:t>
                      </a:r>
                    </a:p>
                  </a:txBody>
                  <a:tcPr marL="54864" marR="54864" marT="22860" marB="22860" anchor="ctr">
                    <a:solidFill>
                      <a:srgbClr val="0B3B7A"/>
                    </a:solidFill>
                  </a:tcPr>
                </a:tc>
                <a:tc>
                  <a:txBody>
                    <a:bodyPr wrap="square"/>
                    <a:lstStyle/>
                    <a:p>
                      <a:r>
                        <a:rPr sz="1200" b="1">
                          <a:solidFill>
                            <a:srgbClr val="FFFFFF"/>
                          </a:solidFill>
                          <a:latin typeface="Calibri"/>
                        </a:rPr>
                        <a:t>Where it came from</a:t>
                      </a:r>
                    </a:p>
                  </a:txBody>
                  <a:tcPr marL="54864" marR="54864" marT="22860" marB="22860" anchor="ctr">
                    <a:solidFill>
                      <a:srgbClr val="0B3B7A"/>
                    </a:solidFill>
                  </a:tcPr>
                </a:tc>
              </a:tr>
              <a:tr h="731520">
                <a:tc>
                  <a:txBody>
                    <a:bodyPr wrap="square"/>
                    <a:lstStyle/>
                    <a:p>
                      <a:r>
                        <a:rPr sz="1200" b="0">
                          <a:solidFill>
                            <a:srgbClr val="1F2937"/>
                          </a:solidFill>
                          <a:latin typeface="Calibri"/>
                        </a:rPr>
                        <a:t>Checkbox 1–3</a:t>
                      </a:r>
                    </a:p>
                  </a:txBody>
                  <a:tcPr marL="54864" marR="54864" marT="22860" marB="22860" anchor="ctr">
                    <a:solidFill>
                      <a:srgbClr val="FFFFFF"/>
                    </a:solidFill>
                  </a:tcPr>
                </a:tc>
                <a:tc>
                  <a:txBody>
                    <a:bodyPr wrap="square"/>
                    <a:lstStyle/>
                    <a:p>
                      <a:r>
                        <a:rPr sz="1200" b="0">
                          <a:solidFill>
                            <a:srgbClr val="1F2937"/>
                          </a:solidFill>
                          <a:latin typeface="Calibri"/>
                        </a:rPr>
                        <a:t>General Liability, Commercial Automobile, Commercial Property</a:t>
                      </a:r>
                    </a:p>
                  </a:txBody>
                  <a:tcPr marL="54864" marR="54864" marT="22860" marB="22860" anchor="ctr">
                    <a:solidFill>
                      <a:srgbClr val="FFFFFF"/>
                    </a:solidFill>
                  </a:tcPr>
                </a:tc>
                <a:tc>
                  <a:txBody>
                    <a:bodyPr wrap="square"/>
                    <a:lstStyle/>
                    <a:p>
                      <a:r>
                        <a:rPr sz="1200" b="0">
                          <a:solidFill>
                            <a:srgbClr val="1F2937"/>
                          </a:solidFill>
                          <a:latin typeface="Calibri"/>
                        </a:rPr>
                        <a:t>SWP Line Of Business page (your metadata)</a:t>
                      </a:r>
                    </a:p>
                  </a:txBody>
                  <a:tcPr marL="54864" marR="54864" marT="22860" marB="22860" anchor="ctr">
                    <a:solidFill>
                      <a:srgbClr val="FFFFFF"/>
                    </a:solidFill>
                  </a:tcPr>
                </a:tc>
              </a:tr>
              <a:tr h="731520">
                <a:tc>
                  <a:txBody>
                    <a:bodyPr wrap="square"/>
                    <a:lstStyle/>
                    <a:p>
                      <a:r>
                        <a:rPr sz="1200" b="0">
                          <a:solidFill>
                            <a:srgbClr val="1F2937"/>
                          </a:solidFill>
                          <a:latin typeface="Calibri"/>
                        </a:rPr>
                        <a:t>Checkbox 4</a:t>
                      </a:r>
                    </a:p>
                  </a:txBody>
                  <a:tcPr marL="54864" marR="54864" marT="22860" marB="22860" anchor="ctr">
                    <a:solidFill>
                      <a:srgbClr val="EEF2F9"/>
                    </a:solidFill>
                  </a:tcPr>
                </a:tc>
                <a:tc>
                  <a:txBody>
                    <a:bodyPr wrap="square"/>
                    <a:lstStyle/>
                    <a:p>
                      <a:r>
                        <a:rPr sz="1200" b="0">
                          <a:solidFill>
                            <a:srgbClr val="1F2937"/>
                          </a:solidFill>
                          <a:latin typeface="Calibri"/>
                        </a:rPr>
                        <a:t>Commercial Umbrella</a:t>
                      </a:r>
                    </a:p>
                  </a:txBody>
                  <a:tcPr marL="54864" marR="54864" marT="22860" marB="22860" anchor="ctr">
                    <a:solidFill>
                      <a:srgbClr val="EEF2F9"/>
                    </a:solidFill>
                  </a:tcPr>
                </a:tc>
                <a:tc>
                  <a:txBody>
                    <a:bodyPr wrap="square"/>
                    <a:lstStyle/>
                    <a:p>
                      <a:r>
                        <a:rPr sz="1200" b="0">
                          <a:solidFill>
                            <a:srgbClr val="1F2937"/>
                          </a:solidFill>
                          <a:latin typeface="Calibri"/>
                        </a:rPr>
                        <a:t>Added by us for this product</a:t>
                      </a:r>
                    </a:p>
                  </a:txBody>
                  <a:tcPr marL="54864" marR="54864" marT="22860" marB="22860" anchor="ctr">
                    <a:solidFill>
                      <a:srgbClr val="EEF2F9"/>
                    </a:solidFill>
                  </a:tcPr>
                </a:tc>
              </a:tr>
              <a:tr h="731520">
                <a:tc>
                  <a:txBody>
                    <a:bodyPr wrap="square"/>
                    <a:lstStyle/>
                    <a:p>
                      <a:r>
                        <a:rPr sz="1200" b="0">
                          <a:solidFill>
                            <a:srgbClr val="1F2937"/>
                          </a:solidFill>
                          <a:latin typeface="Calibri"/>
                        </a:rPr>
                        <a:t>Details strip</a:t>
                      </a:r>
                    </a:p>
                  </a:txBody>
                  <a:tcPr marL="54864" marR="54864" marT="22860" marB="22860" anchor="ctr">
                    <a:solidFill>
                      <a:srgbClr val="FFFFFF"/>
                    </a:solidFill>
                  </a:tcPr>
                </a:tc>
                <a:tc>
                  <a:txBody>
                    <a:bodyPr wrap="square"/>
                    <a:lstStyle/>
                    <a:p>
                      <a:r>
                        <a:rPr sz="1200" b="0">
                          <a:solidFill>
                            <a:srgbClr val="1F2937"/>
                          </a:solidFill>
                          <a:latin typeface="Calibri"/>
                        </a:rPr>
                        <a:t>Agency Name, Agent Name, Submission Number, Submission Status, Insured Name</a:t>
                      </a:r>
                    </a:p>
                  </a:txBody>
                  <a:tcPr marL="54864" marR="54864" marT="22860" marB="22860" anchor="ctr">
                    <a:solidFill>
                      <a:srgbClr val="FFFFFF"/>
                    </a:solidFill>
                  </a:tcPr>
                </a:tc>
                <a:tc>
                  <a:txBody>
                    <a:bodyPr wrap="square"/>
                    <a:lstStyle/>
                    <a:p>
                      <a:r>
                        <a:rPr sz="1200" b="0">
                          <a:solidFill>
                            <a:srgbClr val="1F2937"/>
                          </a:solidFill>
                          <a:latin typeface="Calibri"/>
                        </a:rPr>
                        <a:t>SWP ExpandPanel metadata</a:t>
                      </a:r>
                    </a:p>
                  </a:txBody>
                  <a:tcPr marL="54864" marR="54864" marT="22860" marB="22860" anchor="ctr">
                    <a:solidFill>
                      <a:srgbClr val="FFFFFF"/>
                    </a:solidFill>
                  </a:tcPr>
                </a:tc>
              </a:tr>
              <a:tr h="731520">
                <a:tc>
                  <a:txBody>
                    <a:bodyPr wrap="square"/>
                    <a:lstStyle/>
                    <a:p>
                      <a:r>
                        <a:rPr sz="1200" b="0">
                          <a:solidFill>
                            <a:srgbClr val="1F2937"/>
                          </a:solidFill>
                          <a:latin typeface="Calibri"/>
                        </a:rPr>
                        <a:t>Steps bar</a:t>
                      </a:r>
                    </a:p>
                  </a:txBody>
                  <a:tcPr marL="54864" marR="54864" marT="22860" marB="22860" anchor="ctr">
                    <a:solidFill>
                      <a:srgbClr val="EEF2F9"/>
                    </a:solidFill>
                  </a:tcPr>
                </a:tc>
                <a:tc>
                  <a:txBody>
                    <a:bodyPr wrap="square"/>
                    <a:lstStyle/>
                    <a:p>
                      <a:r>
                        <a:rPr sz="1200" b="0">
                          <a:solidFill>
                            <a:srgbClr val="1F2937"/>
                          </a:solidFill>
                          <a:latin typeface="Calibri"/>
                        </a:rPr>
                        <a:t>Agency &amp; Agent, Insured Details, Line Of Business, Risk/Coverage, Program Selection</a:t>
                      </a:r>
                    </a:p>
                  </a:txBody>
                  <a:tcPr marL="54864" marR="54864" marT="22860" marB="22860" anchor="ctr">
                    <a:solidFill>
                      <a:srgbClr val="EEF2F9"/>
                    </a:solidFill>
                  </a:tcPr>
                </a:tc>
                <a:tc>
                  <a:txBody>
                    <a:bodyPr wrap="square"/>
                    <a:lstStyle/>
                    <a:p>
                      <a:r>
                        <a:rPr sz="1200" b="0">
                          <a:solidFill>
                            <a:srgbClr val="1F2937"/>
                          </a:solidFill>
                          <a:latin typeface="Calibri"/>
                        </a:rPr>
                        <a:t>SWP page (breadcrumb)</a:t>
                      </a:r>
                    </a:p>
                  </a:txBody>
                  <a:tcPr marL="54864" marR="54864" marT="22860" marB="22860" anchor="ctr">
                    <a:solidFill>
                      <a:srgbClr val="EEF2F9"/>
                    </a:solidFill>
                  </a:tcPr>
                </a:tc>
              </a:tr>
              <a:tr h="731520">
                <a:tc>
                  <a:txBody>
                    <a:bodyPr wrap="square"/>
                    <a:lstStyle/>
                    <a:p>
                      <a:r>
                        <a:rPr sz="1200" b="0">
                          <a:solidFill>
                            <a:srgbClr val="1F2937"/>
                          </a:solidFill>
                          <a:latin typeface="Calibri"/>
                        </a:rPr>
                        <a:t>Buttons</a:t>
                      </a:r>
                    </a:p>
                  </a:txBody>
                  <a:tcPr marL="54864" marR="54864" marT="22860" marB="22860" anchor="ctr">
                    <a:solidFill>
                      <a:srgbClr val="FFFFFF"/>
                    </a:solidFill>
                  </a:tcPr>
                </a:tc>
                <a:tc>
                  <a:txBody>
                    <a:bodyPr wrap="square"/>
                    <a:lstStyle/>
                    <a:p>
                      <a:r>
                        <a:rPr sz="1200" b="0">
                          <a:solidFill>
                            <a:srgbClr val="1F2937"/>
                          </a:solidFill>
                          <a:latin typeface="Calibri"/>
                        </a:rPr>
                        <a:t>Previous, Next (Next locked until a box is ticked)</a:t>
                      </a:r>
                    </a:p>
                  </a:txBody>
                  <a:tcPr marL="54864" marR="54864" marT="22860" marB="22860" anchor="ctr">
                    <a:solidFill>
                      <a:srgbClr val="FFFFFF"/>
                    </a:solidFill>
                  </a:tcPr>
                </a:tc>
                <a:tc>
                  <a:txBody>
                    <a:bodyPr wrap="square"/>
                    <a:lstStyle/>
                    <a:p>
                      <a:r>
                        <a:rPr sz="1200" b="0">
                          <a:solidFill>
                            <a:srgbClr val="1F2937"/>
                          </a:solidFill>
                          <a:latin typeface="Calibri"/>
                        </a:rPr>
                        <a:t>SWP Navigation buttons metadata</a:t>
                      </a:r>
                    </a:p>
                  </a:txBody>
                  <a:tcPr marL="54864" marR="54864" marT="22860" marB="2286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State and Policy Page</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7</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General Liability metadata (State, then Subline, then fields); FRC Page Fields sheet, page 'Policy Detail'</a:t>
            </a:r>
          </a:p>
        </p:txBody>
      </p:sp>
      <p:sp>
        <p:nvSpPr>
          <p:cNvPr id="8" name="Rectangle 7"/>
          <p:cNvSpPr/>
          <p:nvPr/>
        </p:nvSpPr>
        <p:spPr>
          <a:xfrm>
            <a:off x="502920" y="1325880"/>
            <a:ext cx="5440680" cy="141732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91440" cy="141732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25880"/>
            <a:ext cx="5074920" cy="141732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Step 1: only State is shown (list of states from the General Liability screen)</a:t>
            </a:r>
          </a:p>
        </p:txBody>
      </p:sp>
      <p:sp>
        <p:nvSpPr>
          <p:cNvPr id="11" name="Rectangle 10"/>
          <p:cNvSpPr/>
          <p:nvPr/>
        </p:nvSpPr>
        <p:spPr>
          <a:xfrm>
            <a:off x="6172200" y="1325880"/>
            <a:ext cx="5440680" cy="141732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25880"/>
            <a:ext cx="91440" cy="141732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25880"/>
            <a:ext cx="5074920" cy="141732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Step 2: after a State is picked, the 26 Policy fields appear</a:t>
            </a:r>
          </a:p>
        </p:txBody>
      </p:sp>
      <p:sp>
        <p:nvSpPr>
          <p:cNvPr id="14" name="Rectangle 13"/>
          <p:cNvSpPr/>
          <p:nvPr/>
        </p:nvSpPr>
        <p:spPr>
          <a:xfrm>
            <a:off x="502920" y="2971800"/>
            <a:ext cx="5440680" cy="141732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71800"/>
            <a:ext cx="91440" cy="141732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971800"/>
            <a:ext cx="5074920" cy="141732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Step 3: Save the Policy. Then Additional Coverages and the Risk Schedule appear</a:t>
            </a:r>
          </a:p>
        </p:txBody>
      </p:sp>
      <p:sp>
        <p:nvSpPr>
          <p:cNvPr id="17" name="Rectangle 16"/>
          <p:cNvSpPr/>
          <p:nvPr/>
        </p:nvSpPr>
        <p:spPr>
          <a:xfrm>
            <a:off x="6172200" y="2971800"/>
            <a:ext cx="5440680" cy="141732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971800"/>
            <a:ext cx="91440" cy="14173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971800"/>
            <a:ext cx="5074920" cy="141732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No Subline for Commercial Umbrella: no Subline field in the FRC (open point: confirm)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Risk Page — Where Each Part Came From (1 of 2)</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8</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Files in CUP Batch 1 ERC Files; column names are the column headers in each sheet</a:t>
            </a:r>
          </a:p>
        </p:txBody>
      </p:sp>
      <p:graphicFrame>
        <p:nvGraphicFramePr>
          <p:cNvPr id="8" name="Table 7"/>
          <p:cNvGraphicFramePr>
            <a:graphicFrameLocks noGrp="1"/>
          </p:cNvGraphicFramePr>
          <p:nvPr/>
        </p:nvGraphicFramePr>
        <p:xfrm>
          <a:off x="365760" y="1097280"/>
          <a:ext cx="11475720" cy="4462272"/>
        </p:xfrm>
        <a:graphic>
          <a:graphicData uri="http://schemas.openxmlformats.org/drawingml/2006/table">
            <a:tbl>
              <a:tblPr firstRow="1" bandRow="1">
                <a:tableStyleId>{5C22544A-7EE6-4342-B048-85BDC9FD1C3A}</a:tableStyleId>
              </a:tblPr>
              <a:tblGrid>
                <a:gridCol w="4206240"/>
                <a:gridCol w="2286000"/>
                <a:gridCol w="4983480"/>
              </a:tblGrid>
              <a:tr h="347472">
                <a:tc>
                  <a:txBody>
                    <a:bodyPr wrap="square"/>
                    <a:lstStyle/>
                    <a:p>
                      <a:r>
                        <a:rPr sz="1100" b="1">
                          <a:solidFill>
                            <a:srgbClr val="FFFFFF"/>
                          </a:solidFill>
                          <a:latin typeface="Calibri"/>
                        </a:rPr>
                        <a:t>Part of the Risk page</a:t>
                      </a:r>
                    </a:p>
                  </a:txBody>
                  <a:tcPr marL="54864" marR="54864" marT="22860" marB="22860" anchor="ctr">
                    <a:solidFill>
                      <a:srgbClr val="0B3B7A"/>
                    </a:solidFill>
                  </a:tcPr>
                </a:tc>
                <a:tc>
                  <a:txBody>
                    <a:bodyPr wrap="square"/>
                    <a:lstStyle/>
                    <a:p>
                      <a:r>
                        <a:rPr sz="1100" b="1">
                          <a:solidFill>
                            <a:srgbClr val="FFFFFF"/>
                          </a:solidFill>
                          <a:latin typeface="Calibri"/>
                        </a:rPr>
                        <a:t>File</a:t>
                      </a:r>
                    </a:p>
                  </a:txBody>
                  <a:tcPr marL="54864" marR="54864" marT="22860" marB="22860" anchor="ctr">
                    <a:solidFill>
                      <a:srgbClr val="0B3B7A"/>
                    </a:solidFill>
                  </a:tcPr>
                </a:tc>
                <a:tc>
                  <a:txBody>
                    <a:bodyPr wrap="square"/>
                    <a:lstStyle/>
                    <a:p>
                      <a:r>
                        <a:rPr sz="1100" b="1">
                          <a:solidFill>
                            <a:srgbClr val="FFFFFF"/>
                          </a:solidFill>
                          <a:latin typeface="Calibri"/>
                        </a:rPr>
                        <a:t>Sheet → column</a:t>
                      </a:r>
                    </a:p>
                  </a:txBody>
                  <a:tcPr marL="54864" marR="54864" marT="22860" marB="22860" anchor="ctr">
                    <a:solidFill>
                      <a:srgbClr val="0B3B7A"/>
                    </a:solidFill>
                  </a:tcPr>
                </a:tc>
              </a:tr>
              <a:tr h="457200">
                <a:tc>
                  <a:txBody>
                    <a:bodyPr wrap="square"/>
                    <a:lstStyle/>
                    <a:p>
                      <a:r>
                        <a:rPr sz="1100" b="0">
                          <a:solidFill>
                            <a:srgbClr val="1F2937"/>
                          </a:solidFill>
                          <a:latin typeface="Calibri"/>
                        </a:rPr>
                        <a:t>Policy fields: which fields, labels, order</a:t>
                      </a:r>
                    </a:p>
                  </a:txBody>
                  <a:tcPr marL="54864" marR="54864" marT="22860" marB="22860" anchor="ctr">
                    <a:solidFill>
                      <a:srgbClr val="FFFFFF"/>
                    </a:solidFill>
                  </a:tcPr>
                </a:tc>
                <a:tc>
                  <a:txBody>
                    <a:bodyPr wrap="square"/>
                    <a:lstStyle/>
                    <a:p>
                      <a:r>
                        <a:rPr sz="1100" b="0">
                          <a:solidFill>
                            <a:srgbClr val="1F2937"/>
                          </a:solidFill>
                          <a:latin typeface="Calibri"/>
                        </a:rPr>
                        <a:t>FRC-CU-AK / CU-CW</a:t>
                      </a:r>
                    </a:p>
                  </a:txBody>
                  <a:tcPr marL="54864" marR="54864" marT="22860" marB="22860" anchor="ctr">
                    <a:solidFill>
                      <a:srgbClr val="FFFFFF"/>
                    </a:solidFill>
                  </a:tcPr>
                </a:tc>
                <a:tc>
                  <a:txBody>
                    <a:bodyPr wrap="square"/>
                    <a:lstStyle/>
                    <a:p>
                      <a:r>
                        <a:rPr sz="1100" b="0">
                          <a:solidFill>
                            <a:srgbClr val="1F2937"/>
                          </a:solidFill>
                          <a:latin typeface="Calibri"/>
                        </a:rPr>
                        <a:t>Page Fields → Page = Policy Detail; Field, Label, Sequence</a:t>
                      </a:r>
                    </a:p>
                  </a:txBody>
                  <a:tcPr marL="54864" marR="54864" marT="22860" marB="22860" anchor="ctr">
                    <a:solidFill>
                      <a:srgbClr val="FFFFFF"/>
                    </a:solidFill>
                  </a:tcPr>
                </a:tc>
              </a:tr>
              <a:tr h="457200">
                <a:tc>
                  <a:txBody>
                    <a:bodyPr wrap="square"/>
                    <a:lstStyle/>
                    <a:p>
                      <a:r>
                        <a:rPr sz="1100" b="0">
                          <a:solidFill>
                            <a:srgbClr val="1F2937"/>
                          </a:solidFill>
                          <a:latin typeface="Calibri"/>
                        </a:rPr>
                        <a:t>Required stars and default values</a:t>
                      </a:r>
                    </a:p>
                  </a:txBody>
                  <a:tcPr marL="54864" marR="54864" marT="22860" marB="22860" anchor="ctr">
                    <a:solidFill>
                      <a:srgbClr val="EEF2F9"/>
                    </a:solidFill>
                  </a:tcPr>
                </a:tc>
                <a:tc>
                  <a:txBody>
                    <a:bodyPr wrap="square"/>
                    <a:lstStyle/>
                    <a:p>
                      <a:r>
                        <a:rPr sz="1100" b="0">
                          <a:solidFill>
                            <a:srgbClr val="1F2937"/>
                          </a:solidFill>
                          <a:latin typeface="Calibri"/>
                        </a:rPr>
                        <a:t>FRC-CU-AK / CU-CW</a:t>
                      </a:r>
                    </a:p>
                  </a:txBody>
                  <a:tcPr marL="54864" marR="54864" marT="22860" marB="22860" anchor="ctr">
                    <a:solidFill>
                      <a:srgbClr val="EEF2F9"/>
                    </a:solidFill>
                  </a:tcPr>
                </a:tc>
                <a:tc>
                  <a:txBody>
                    <a:bodyPr wrap="square"/>
                    <a:lstStyle/>
                    <a:p>
                      <a:r>
                        <a:rPr sz="1100" b="0">
                          <a:solidFill>
                            <a:srgbClr val="1F2937"/>
                          </a:solidFill>
                          <a:latin typeface="Calibri"/>
                        </a:rPr>
                        <a:t>Page Fields → Quote Required, Required Condition, Default</a:t>
                      </a:r>
                    </a:p>
                  </a:txBody>
                  <a:tcPr marL="54864" marR="54864" marT="22860" marB="22860" anchor="ctr">
                    <a:solidFill>
                      <a:srgbClr val="EEF2F9"/>
                    </a:solidFill>
                  </a:tcPr>
                </a:tc>
              </a:tr>
              <a:tr h="457200">
                <a:tc>
                  <a:txBody>
                    <a:bodyPr wrap="square"/>
                    <a:lstStyle/>
                    <a:p>
                      <a:r>
                        <a:rPr sz="1100" b="0">
                          <a:solidFill>
                            <a:srgbClr val="1F2937"/>
                          </a:solidFill>
                          <a:latin typeface="Calibri"/>
                        </a:rPr>
                        <a:t>Show / hide rules (for example Excess limits)</a:t>
                      </a:r>
                    </a:p>
                  </a:txBody>
                  <a:tcPr marL="54864" marR="54864" marT="22860" marB="22860" anchor="ctr">
                    <a:solidFill>
                      <a:srgbClr val="FFFFFF"/>
                    </a:solidFill>
                  </a:tcPr>
                </a:tc>
                <a:tc>
                  <a:txBody>
                    <a:bodyPr wrap="square"/>
                    <a:lstStyle/>
                    <a:p>
                      <a:r>
                        <a:rPr sz="1100" b="0">
                          <a:solidFill>
                            <a:srgbClr val="1F2937"/>
                          </a:solidFill>
                          <a:latin typeface="Calibri"/>
                        </a:rPr>
                        <a:t>FRC-CU-AK / CU-CW</a:t>
                      </a:r>
                    </a:p>
                  </a:txBody>
                  <a:tcPr marL="54864" marR="54864" marT="22860" marB="22860" anchor="ctr">
                    <a:solidFill>
                      <a:srgbClr val="FFFFFF"/>
                    </a:solidFill>
                  </a:tcPr>
                </a:tc>
                <a:tc>
                  <a:txBody>
                    <a:bodyPr wrap="square"/>
                    <a:lstStyle/>
                    <a:p>
                      <a:r>
                        <a:rPr sz="1100" b="0">
                          <a:solidFill>
                            <a:srgbClr val="1F2937"/>
                          </a:solidFill>
                          <a:latin typeface="Calibri"/>
                        </a:rPr>
                        <a:t>Page Fields → Condition, Display Controller</a:t>
                      </a:r>
                    </a:p>
                  </a:txBody>
                  <a:tcPr marL="54864" marR="54864" marT="22860" marB="22860" anchor="ctr">
                    <a:solidFill>
                      <a:srgbClr val="FFFFFF"/>
                    </a:solidFill>
                  </a:tcPr>
                </a:tc>
              </a:tr>
              <a:tr h="457200">
                <a:tc>
                  <a:txBody>
                    <a:bodyPr wrap="square"/>
                    <a:lstStyle/>
                    <a:p>
                      <a:r>
                        <a:rPr sz="1100" b="0">
                          <a:solidFill>
                            <a:srgbClr val="1F2937"/>
                          </a:solidFill>
                          <a:latin typeface="Calibri"/>
                        </a:rPr>
                        <a:t>Section headings (Premium 1st–5th Million)</a:t>
                      </a:r>
                    </a:p>
                  </a:txBody>
                  <a:tcPr marL="54864" marR="54864" marT="22860" marB="22860" anchor="ctr">
                    <a:solidFill>
                      <a:srgbClr val="EEF2F9"/>
                    </a:solidFill>
                  </a:tcPr>
                </a:tc>
                <a:tc>
                  <a:txBody>
                    <a:bodyPr wrap="square"/>
                    <a:lstStyle/>
                    <a:p>
                      <a:r>
                        <a:rPr sz="1100" b="0">
                          <a:solidFill>
                            <a:srgbClr val="1F2937"/>
                          </a:solidFill>
                          <a:latin typeface="Calibri"/>
                        </a:rPr>
                        <a:t>FRC-CU-AK / CU-CW</a:t>
                      </a:r>
                    </a:p>
                  </a:txBody>
                  <a:tcPr marL="54864" marR="54864" marT="22860" marB="22860" anchor="ctr">
                    <a:solidFill>
                      <a:srgbClr val="EEF2F9"/>
                    </a:solidFill>
                  </a:tcPr>
                </a:tc>
                <a:tc>
                  <a:txBody>
                    <a:bodyPr wrap="square"/>
                    <a:lstStyle/>
                    <a:p>
                      <a:r>
                        <a:rPr sz="1100" b="0">
                          <a:solidFill>
                            <a:srgbClr val="1F2937"/>
                          </a:solidFill>
                          <a:latin typeface="Calibri"/>
                        </a:rPr>
                        <a:t>Page Fields → Comment = Header</a:t>
                      </a:r>
                    </a:p>
                  </a:txBody>
                  <a:tcPr marL="54864" marR="54864" marT="22860" marB="22860" anchor="ctr">
                    <a:solidFill>
                      <a:srgbClr val="EEF2F9"/>
                    </a:solidFill>
                  </a:tcPr>
                </a:tc>
              </a:tr>
              <a:tr h="457200">
                <a:tc>
                  <a:txBody>
                    <a:bodyPr wrap="square"/>
                    <a:lstStyle/>
                    <a:p>
                      <a:r>
                        <a:rPr sz="1100" b="0">
                          <a:solidFill>
                            <a:srgbClr val="1F2937"/>
                          </a:solidFill>
                          <a:latin typeface="Calibri"/>
                        </a:rPr>
                        <a:t>Hint text on Terrorism field; number ranges</a:t>
                      </a:r>
                    </a:p>
                  </a:txBody>
                  <a:tcPr marL="54864" marR="54864" marT="22860" marB="22860" anchor="ctr">
                    <a:solidFill>
                      <a:srgbClr val="FFFFFF"/>
                    </a:solidFill>
                  </a:tcPr>
                </a:tc>
                <a:tc>
                  <a:txBody>
                    <a:bodyPr wrap="square"/>
                    <a:lstStyle/>
                    <a:p>
                      <a:r>
                        <a:rPr sz="1100" b="0">
                          <a:solidFill>
                            <a:srgbClr val="1F2937"/>
                          </a:solidFill>
                          <a:latin typeface="Calibri"/>
                        </a:rPr>
                        <a:t>FRC-CU-AK / CU-CW</a:t>
                      </a:r>
                    </a:p>
                  </a:txBody>
                  <a:tcPr marL="54864" marR="54864" marT="22860" marB="22860" anchor="ctr">
                    <a:solidFill>
                      <a:srgbClr val="FFFFFF"/>
                    </a:solidFill>
                  </a:tcPr>
                </a:tc>
                <a:tc>
                  <a:txBody>
                    <a:bodyPr wrap="square"/>
                    <a:lstStyle/>
                    <a:p>
                      <a:r>
                        <a:rPr sz="1100" b="0">
                          <a:solidFill>
                            <a:srgbClr val="1F2937"/>
                          </a:solidFill>
                          <a:latin typeface="Calibri"/>
                        </a:rPr>
                        <a:t>Page Fields → Help Text; Min, Max</a:t>
                      </a:r>
                    </a:p>
                  </a:txBody>
                  <a:tcPr marL="54864" marR="54864" marT="22860" marB="22860" anchor="ctr">
                    <a:solidFill>
                      <a:srgbClr val="FFFFFF"/>
                    </a:solidFill>
                  </a:tcPr>
                </a:tc>
              </a:tr>
              <a:tr h="457200">
                <a:tc>
                  <a:txBody>
                    <a:bodyPr wrap="square"/>
                    <a:lstStyle/>
                    <a:p>
                      <a:r>
                        <a:rPr sz="1100" b="0">
                          <a:solidFill>
                            <a:srgbClr val="1F2937"/>
                          </a:solidFill>
                          <a:latin typeface="Calibri"/>
                        </a:rPr>
                        <a:t>Dropdown values (limits, forms, legal entity, yes/no)</a:t>
                      </a:r>
                    </a:p>
                  </a:txBody>
                  <a:tcPr marL="54864" marR="54864" marT="22860" marB="22860" anchor="ctr">
                    <a:solidFill>
                      <a:srgbClr val="EEF2F9"/>
                    </a:solidFill>
                  </a:tcPr>
                </a:tc>
                <a:tc>
                  <a:txBody>
                    <a:bodyPr wrap="square"/>
                    <a:lstStyle/>
                    <a:p>
                      <a:r>
                        <a:rPr sz="1100" b="0">
                          <a:solidFill>
                            <a:srgbClr val="1F2937"/>
                          </a:solidFill>
                          <a:latin typeface="Calibri"/>
                        </a:rPr>
                        <a:t>FRC-CU-AK / CU-CW</a:t>
                      </a:r>
                    </a:p>
                  </a:txBody>
                  <a:tcPr marL="54864" marR="54864" marT="22860" marB="22860" anchor="ctr">
                    <a:solidFill>
                      <a:srgbClr val="EEF2F9"/>
                    </a:solidFill>
                  </a:tcPr>
                </a:tc>
                <a:tc>
                  <a:txBody>
                    <a:bodyPr wrap="square"/>
                    <a:lstStyle/>
                    <a:p>
                      <a:r>
                        <a:rPr sz="1100" b="0">
                          <a:solidFill>
                            <a:srgbClr val="1F2937"/>
                          </a:solidFill>
                          <a:latin typeface="Calibri"/>
                        </a:rPr>
                        <a:t>Domain Tables, Domain Table Entries → Display Value, DataValue</a:t>
                      </a:r>
                    </a:p>
                  </a:txBody>
                  <a:tcPr marL="54864" marR="54864" marT="22860" marB="22860" anchor="ctr">
                    <a:solidFill>
                      <a:srgbClr val="EEF2F9"/>
                    </a:solidFill>
                  </a:tcPr>
                </a:tc>
              </a:tr>
              <a:tr h="457200">
                <a:tc>
                  <a:txBody>
                    <a:bodyPr wrap="square"/>
                    <a:lstStyle/>
                    <a:p>
                      <a:r>
                        <a:rPr sz="1100" b="0">
                          <a:solidFill>
                            <a:srgbClr val="1F2937"/>
                          </a:solidFill>
                          <a:latin typeface="Calibri"/>
                        </a:rPr>
                        <a:t>The 9 underlying-insurance groups, their order, 1 row or many</a:t>
                      </a:r>
                    </a:p>
                  </a:txBody>
                  <a:tcPr marL="54864" marR="54864" marT="22860" marB="22860" anchor="ctr">
                    <a:solidFill>
                      <a:srgbClr val="FFFFFF"/>
                    </a:solidFill>
                  </a:tcPr>
                </a:tc>
                <a:tc>
                  <a:txBody>
                    <a:bodyPr wrap="square"/>
                    <a:lstStyle/>
                    <a:p>
                      <a:r>
                        <a:rPr sz="1100" b="0">
                          <a:solidFill>
                            <a:srgbClr val="1F2937"/>
                          </a:solidFill>
                          <a:latin typeface="Calibri"/>
                        </a:rPr>
                        <a:t>FRC-CU-AK / CU-CW</a:t>
                      </a:r>
                    </a:p>
                  </a:txBody>
                  <a:tcPr marL="54864" marR="54864" marT="22860" marB="22860" anchor="ctr">
                    <a:solidFill>
                      <a:srgbClr val="FFFFFF"/>
                    </a:solidFill>
                  </a:tcPr>
                </a:tc>
                <a:tc>
                  <a:txBody>
                    <a:bodyPr wrap="square"/>
                    <a:lstStyle/>
                    <a:p>
                      <a:r>
                        <a:rPr sz="1100" b="0">
                          <a:solidFill>
                            <a:srgbClr val="1F2937"/>
                          </a:solidFill>
                          <a:latin typeface="Calibri"/>
                        </a:rPr>
                        <a:t>Page → Parent = Policy Detail, Type = Summary; Sequence, Max Occurs</a:t>
                      </a:r>
                    </a:p>
                  </a:txBody>
                  <a:tcPr marL="54864" marR="54864" marT="22860" marB="22860" anchor="ctr">
                    <a:solidFill>
                      <a:srgbClr val="FFFFFF"/>
                    </a:solidFill>
                  </a:tcPr>
                </a:tc>
              </a:tr>
              <a:tr h="457200">
                <a:tc>
                  <a:txBody>
                    <a:bodyPr wrap="square"/>
                    <a:lstStyle/>
                    <a:p>
                      <a:r>
                        <a:rPr sz="1100" b="0">
                          <a:solidFill>
                            <a:srgbClr val="1F2937"/>
                          </a:solidFill>
                          <a:latin typeface="Calibri"/>
                        </a:rPr>
                        <a:t>Table columns of each group (Carrier, Policy Number, dates)</a:t>
                      </a:r>
                    </a:p>
                  </a:txBody>
                  <a:tcPr marL="54864" marR="54864" marT="22860" marB="22860" anchor="ctr">
                    <a:solidFill>
                      <a:srgbClr val="EEF2F9"/>
                    </a:solidFill>
                  </a:tcPr>
                </a:tc>
                <a:tc>
                  <a:txBody>
                    <a:bodyPr wrap="square"/>
                    <a:lstStyle/>
                    <a:p>
                      <a:r>
                        <a:rPr sz="1100" b="0">
                          <a:solidFill>
                            <a:srgbClr val="1F2937"/>
                          </a:solidFill>
                          <a:latin typeface="Calibri"/>
                        </a:rPr>
                        <a:t>FRC-CU-AK / CU-CW</a:t>
                      </a:r>
                    </a:p>
                  </a:txBody>
                  <a:tcPr marL="54864" marR="54864" marT="22860" marB="22860" anchor="ctr">
                    <a:solidFill>
                      <a:srgbClr val="EEF2F9"/>
                    </a:solidFill>
                  </a:tcPr>
                </a:tc>
                <a:tc>
                  <a:txBody>
                    <a:bodyPr wrap="square"/>
                    <a:lstStyle/>
                    <a:p>
                      <a:r>
                        <a:rPr sz="1100" b="0">
                          <a:solidFill>
                            <a:srgbClr val="1F2937"/>
                          </a:solidFill>
                          <a:latin typeface="Calibri"/>
                        </a:rPr>
                        <a:t>Page Fields → Page = &lt;group&gt; (Summary page)</a:t>
                      </a:r>
                    </a:p>
                  </a:txBody>
                  <a:tcPr marL="54864" marR="54864" marT="22860" marB="22860" anchor="ctr">
                    <a:solidFill>
                      <a:srgbClr val="EEF2F9"/>
                    </a:solidFill>
                  </a:tcPr>
                </a:tc>
              </a:tr>
              <a:tr h="457200">
                <a:tc>
                  <a:txBody>
                    <a:bodyPr wrap="square"/>
                    <a:lstStyle/>
                    <a:p>
                      <a:r>
                        <a:rPr sz="1100" b="0">
                          <a:solidFill>
                            <a:srgbClr val="1F2937"/>
                          </a:solidFill>
                          <a:latin typeface="Calibri"/>
                        </a:rPr>
                        <a:t>Detail form of each group</a:t>
                      </a:r>
                    </a:p>
                  </a:txBody>
                  <a:tcPr marL="54864" marR="54864" marT="22860" marB="22860" anchor="ctr">
                    <a:solidFill>
                      <a:srgbClr val="FFFFFF"/>
                    </a:solidFill>
                  </a:tcPr>
                </a:tc>
                <a:tc>
                  <a:txBody>
                    <a:bodyPr wrap="square"/>
                    <a:lstStyle/>
                    <a:p>
                      <a:r>
                        <a:rPr sz="1100" b="0">
                          <a:solidFill>
                            <a:srgbClr val="1F2937"/>
                          </a:solidFill>
                          <a:latin typeface="Calibri"/>
                        </a:rPr>
                        <a:t>FRC-CU-AK / CU-CW</a:t>
                      </a:r>
                    </a:p>
                  </a:txBody>
                  <a:tcPr marL="54864" marR="54864" marT="22860" marB="22860" anchor="ctr">
                    <a:solidFill>
                      <a:srgbClr val="FFFFFF"/>
                    </a:solidFill>
                  </a:tcPr>
                </a:tc>
                <a:tc>
                  <a:txBody>
                    <a:bodyPr wrap="square"/>
                    <a:lstStyle/>
                    <a:p>
                      <a:r>
                        <a:rPr sz="1100" b="0">
                          <a:solidFill>
                            <a:srgbClr val="1F2937"/>
                          </a:solidFill>
                          <a:latin typeface="Calibri"/>
                        </a:rPr>
                        <a:t>Page Fields → Page = &lt;group&gt; Detail</a:t>
                      </a:r>
                    </a:p>
                  </a:txBody>
                  <a:tcPr marL="54864" marR="54864" marT="22860" marB="2286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Risk Page — Where Each Part Came From (2 of 2)</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9</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Files named in the table; items marked 'ours' are our own choice, not taken from a file</a:t>
            </a:r>
          </a:p>
        </p:txBody>
      </p:sp>
      <p:graphicFrame>
        <p:nvGraphicFramePr>
          <p:cNvPr id="8" name="Table 7"/>
          <p:cNvGraphicFramePr>
            <a:graphicFrameLocks noGrp="1"/>
          </p:cNvGraphicFramePr>
          <p:nvPr/>
        </p:nvGraphicFramePr>
        <p:xfrm>
          <a:off x="365760" y="1097280"/>
          <a:ext cx="11475720" cy="4462272"/>
        </p:xfrm>
        <a:graphic>
          <a:graphicData uri="http://schemas.openxmlformats.org/drawingml/2006/table">
            <a:tbl>
              <a:tblPr firstRow="1" bandRow="1">
                <a:tableStyleId>{5C22544A-7EE6-4342-B048-85BDC9FD1C3A}</a:tableStyleId>
              </a:tblPr>
              <a:tblGrid>
                <a:gridCol w="4206240"/>
                <a:gridCol w="3566160"/>
                <a:gridCol w="3703320"/>
              </a:tblGrid>
              <a:tr h="347472">
                <a:tc>
                  <a:txBody>
                    <a:bodyPr wrap="square"/>
                    <a:lstStyle/>
                    <a:p>
                      <a:r>
                        <a:rPr sz="1100" b="1">
                          <a:solidFill>
                            <a:srgbClr val="FFFFFF"/>
                          </a:solidFill>
                          <a:latin typeface="Calibri"/>
                        </a:rPr>
                        <a:t>Part of the Risk page</a:t>
                      </a:r>
                    </a:p>
                  </a:txBody>
                  <a:tcPr marL="54864" marR="54864" marT="22860" marB="22860" anchor="ctr">
                    <a:solidFill>
                      <a:srgbClr val="0B3B7A"/>
                    </a:solidFill>
                  </a:tcPr>
                </a:tc>
                <a:tc>
                  <a:txBody>
                    <a:bodyPr wrap="square"/>
                    <a:lstStyle/>
                    <a:p>
                      <a:r>
                        <a:rPr sz="1100" b="1">
                          <a:solidFill>
                            <a:srgbClr val="FFFFFF"/>
                          </a:solidFill>
                          <a:latin typeface="Calibri"/>
                        </a:rPr>
                        <a:t>File</a:t>
                      </a:r>
                    </a:p>
                  </a:txBody>
                  <a:tcPr marL="54864" marR="54864" marT="22860" marB="22860" anchor="ctr">
                    <a:solidFill>
                      <a:srgbClr val="0B3B7A"/>
                    </a:solidFill>
                  </a:tcPr>
                </a:tc>
                <a:tc>
                  <a:txBody>
                    <a:bodyPr wrap="square"/>
                    <a:lstStyle/>
                    <a:p>
                      <a:r>
                        <a:rPr sz="1100" b="1">
                          <a:solidFill>
                            <a:srgbClr val="FFFFFF"/>
                          </a:solidFill>
                          <a:latin typeface="Calibri"/>
                        </a:rPr>
                        <a:t>Sheet or part</a:t>
                      </a:r>
                    </a:p>
                  </a:txBody>
                  <a:tcPr marL="54864" marR="54864" marT="22860" marB="22860" anchor="ctr">
                    <a:solidFill>
                      <a:srgbClr val="0B3B7A"/>
                    </a:solidFill>
                  </a:tcPr>
                </a:tc>
              </a:tr>
              <a:tr h="457200">
                <a:tc>
                  <a:txBody>
                    <a:bodyPr wrap="square"/>
                    <a:lstStyle/>
                    <a:p>
                      <a:r>
                        <a:rPr sz="1100" b="0">
                          <a:solidFill>
                            <a:srgbClr val="1F2937"/>
                          </a:solidFill>
                          <a:latin typeface="Calibri"/>
                        </a:rPr>
                        <a:t>Number, date and text-length limits on fields</a:t>
                      </a:r>
                    </a:p>
                  </a:txBody>
                  <a:tcPr marL="54864" marR="54864" marT="22860" marB="22860" anchor="ctr">
                    <a:solidFill>
                      <a:srgbClr val="FFFFFF"/>
                    </a:solidFill>
                  </a:tcPr>
                </a:tc>
                <a:tc>
                  <a:txBody>
                    <a:bodyPr wrap="square"/>
                    <a:lstStyle/>
                    <a:p>
                      <a:r>
                        <a:rPr sz="1100" b="0">
                          <a:solidFill>
                            <a:srgbClr val="1F2937"/>
                          </a:solidFill>
                          <a:latin typeface="Calibri"/>
                        </a:rPr>
                        <a:t>DS-CU-AK-12012020-V01.xlsx</a:t>
                      </a:r>
                    </a:p>
                  </a:txBody>
                  <a:tcPr marL="54864" marR="54864" marT="22860" marB="22860" anchor="ctr">
                    <a:solidFill>
                      <a:srgbClr val="FFFFFF"/>
                    </a:solidFill>
                  </a:tcPr>
                </a:tc>
                <a:tc>
                  <a:txBody>
                    <a:bodyPr wrap="square"/>
                    <a:lstStyle/>
                    <a:p>
                      <a:r>
                        <a:rPr sz="1100" b="0">
                          <a:solidFill>
                            <a:srgbClr val="1F2937"/>
                          </a:solidFill>
                          <a:latin typeface="Calibri"/>
                        </a:rPr>
                        <a:t>Column Details → Type, Size, Scale</a:t>
                      </a:r>
                    </a:p>
                  </a:txBody>
                  <a:tcPr marL="54864" marR="54864" marT="22860" marB="22860" anchor="ctr">
                    <a:solidFill>
                      <a:srgbClr val="FFFFFF"/>
                    </a:solidFill>
                  </a:tcPr>
                </a:tc>
              </a:tr>
              <a:tr h="457200">
                <a:tc>
                  <a:txBody>
                    <a:bodyPr wrap="square"/>
                    <a:lstStyle/>
                    <a:p>
                      <a:r>
                        <a:rPr sz="1100" b="0">
                          <a:solidFill>
                            <a:srgbClr val="1F2937"/>
                          </a:solidFill>
                          <a:latin typeface="Calibri"/>
                        </a:rPr>
                        <a:t>Messages such as 'Underlying Liability Premium Must Be Greater Than 0'</a:t>
                      </a:r>
                    </a:p>
                  </a:txBody>
                  <a:tcPr marL="54864" marR="54864" marT="22860" marB="22860" anchor="ctr">
                    <a:solidFill>
                      <a:srgbClr val="EEF2F9"/>
                    </a:solidFill>
                  </a:tcPr>
                </a:tc>
                <a:tc>
                  <a:txBody>
                    <a:bodyPr wrap="square"/>
                    <a:lstStyle/>
                    <a:p>
                      <a:r>
                        <a:rPr sz="1100" b="0">
                          <a:solidFill>
                            <a:srgbClr val="1F2937"/>
                          </a:solidFill>
                          <a:latin typeface="Calibri"/>
                        </a:rPr>
                        <a:t>ALG-CU-AK-12012020-V01_HR.xlsx</a:t>
                      </a:r>
                    </a:p>
                  </a:txBody>
                  <a:tcPr marL="54864" marR="54864" marT="22860" marB="22860" anchor="ctr">
                    <a:solidFill>
                      <a:srgbClr val="EEF2F9"/>
                    </a:solidFill>
                  </a:tcPr>
                </a:tc>
                <a:tc>
                  <a:txBody>
                    <a:bodyPr wrap="square"/>
                    <a:lstStyle/>
                    <a:p>
                      <a:r>
                        <a:rPr sz="1100" b="0">
                          <a:solidFill>
                            <a:srgbClr val="1F2937"/>
                          </a:solidFill>
                          <a:latin typeface="Calibri"/>
                        </a:rPr>
                        <a:t>Err-&lt;group&gt; sheets, ErrorMessages</a:t>
                      </a:r>
                    </a:p>
                  </a:txBody>
                  <a:tcPr marL="54864" marR="54864" marT="22860" marB="22860" anchor="ctr">
                    <a:solidFill>
                      <a:srgbClr val="EEF2F9"/>
                    </a:solidFill>
                  </a:tcPr>
                </a:tc>
              </a:tr>
              <a:tr h="457200">
                <a:tc>
                  <a:txBody>
                    <a:bodyPr wrap="square"/>
                    <a:lstStyle/>
                    <a:p>
                      <a:r>
                        <a:rPr sz="1100" b="0">
                          <a:solidFill>
                            <a:srgbClr val="1F2937"/>
                          </a:solidFill>
                          <a:latin typeface="Calibri"/>
                        </a:rPr>
                        <a:t>State list (52 states) and State → Policy order</a:t>
                      </a:r>
                    </a:p>
                  </a:txBody>
                  <a:tcPr marL="54864" marR="54864" marT="22860" marB="22860" anchor="ctr">
                    <a:solidFill>
                      <a:srgbClr val="FFFFFF"/>
                    </a:solidFill>
                  </a:tcPr>
                </a:tc>
                <a:tc>
                  <a:txBody>
                    <a:bodyPr wrap="square"/>
                    <a:lstStyle/>
                    <a:p>
                      <a:r>
                        <a:rPr sz="1100" b="0">
                          <a:solidFill>
                            <a:srgbClr val="1F2937"/>
                          </a:solidFill>
                          <a:latin typeface="Calibri"/>
                        </a:rPr>
                        <a:t>General Liability Policy page data you sent (SWP_1_3_V1)</a:t>
                      </a:r>
                    </a:p>
                  </a:txBody>
                  <a:tcPr marL="54864" marR="54864" marT="22860" marB="22860" anchor="ctr">
                    <a:solidFill>
                      <a:srgbClr val="FFFFFF"/>
                    </a:solidFill>
                  </a:tcPr>
                </a:tc>
                <a:tc>
                  <a:txBody>
                    <a:bodyPr wrap="square"/>
                    <a:lstStyle/>
                    <a:p>
                      <a:r>
                        <a:rPr sz="1100" b="0">
                          <a:solidFill>
                            <a:srgbClr val="1F2937"/>
                          </a:solidFill>
                          <a:latin typeface="Calibri"/>
                        </a:rPr>
                        <a:t>PolicyDetail State field and its values</a:t>
                      </a:r>
                    </a:p>
                  </a:txBody>
                  <a:tcPr marL="54864" marR="54864" marT="22860" marB="22860" anchor="ctr">
                    <a:solidFill>
                      <a:srgbClr val="FFFFFF"/>
                    </a:solidFill>
                  </a:tcPr>
                </a:tc>
              </a:tr>
              <a:tr h="457200">
                <a:tc>
                  <a:txBody>
                    <a:bodyPr wrap="square"/>
                    <a:lstStyle/>
                    <a:p>
                      <a:r>
                        <a:rPr sz="1100" b="0">
                          <a:solidFill>
                            <a:srgbClr val="1F2937"/>
                          </a:solidFill>
                          <a:latin typeface="Calibri"/>
                        </a:rPr>
                        <a:t>Additional Coverages table; Risk Schedule section; row opens in place; Save button</a:t>
                      </a:r>
                    </a:p>
                  </a:txBody>
                  <a:tcPr marL="54864" marR="54864" marT="22860" marB="22860" anchor="ctr">
                    <a:solidFill>
                      <a:srgbClr val="EEF2F9"/>
                    </a:solidFill>
                  </a:tcPr>
                </a:tc>
                <a:tc>
                  <a:txBody>
                    <a:bodyPr wrap="square"/>
                    <a:lstStyle/>
                    <a:p>
                      <a:r>
                        <a:rPr sz="1100" b="0">
                          <a:solidFill>
                            <a:srgbClr val="1F2937"/>
                          </a:solidFill>
                          <a:latin typeface="Calibri"/>
                        </a:rPr>
                        <a:t>General Liability page data and screenshots you sent</a:t>
                      </a:r>
                    </a:p>
                  </a:txBody>
                  <a:tcPr marL="54864" marR="54864" marT="22860" marB="22860" anchor="ctr">
                    <a:solidFill>
                      <a:srgbClr val="EEF2F9"/>
                    </a:solidFill>
                  </a:tcPr>
                </a:tc>
                <a:tc>
                  <a:txBody>
                    <a:bodyPr wrap="square"/>
                    <a:lstStyle/>
                    <a:p>
                      <a:r>
                        <a:rPr sz="1100" b="0">
                          <a:solidFill>
                            <a:srgbClr val="1F2937"/>
                          </a:solidFill>
                          <a:latin typeface="Calibri"/>
                        </a:rPr>
                        <a:t>AdditionalCoverage, Location, Classification pages</a:t>
                      </a:r>
                    </a:p>
                  </a:txBody>
                  <a:tcPr marL="54864" marR="54864" marT="22860" marB="22860" anchor="ctr">
                    <a:solidFill>
                      <a:srgbClr val="EEF2F9"/>
                    </a:solidFill>
                  </a:tcPr>
                </a:tc>
              </a:tr>
              <a:tr h="457200">
                <a:tc>
                  <a:txBody>
                    <a:bodyPr wrap="square"/>
                    <a:lstStyle/>
                    <a:p>
                      <a:r>
                        <a:rPr sz="1100" b="0">
                          <a:solidFill>
                            <a:srgbClr val="1F2937"/>
                          </a:solidFill>
                          <a:latin typeface="Calibri"/>
                        </a:rPr>
                        <a:t>Step bar, Details strip, Previous / Next, note text</a:t>
                      </a:r>
                    </a:p>
                  </a:txBody>
                  <a:tcPr marL="54864" marR="54864" marT="22860" marB="22860" anchor="ctr">
                    <a:solidFill>
                      <a:srgbClr val="FFFFFF"/>
                    </a:solidFill>
                  </a:tcPr>
                </a:tc>
                <a:tc>
                  <a:txBody>
                    <a:bodyPr wrap="square"/>
                    <a:lstStyle/>
                    <a:p>
                      <a:r>
                        <a:rPr sz="1100" b="0">
                          <a:solidFill>
                            <a:srgbClr val="1F2937"/>
                          </a:solidFill>
                          <a:latin typeface="Calibri"/>
                        </a:rPr>
                        <a:t>SWP Line Of Business and Risk pages you sent</a:t>
                      </a:r>
                    </a:p>
                  </a:txBody>
                  <a:tcPr marL="54864" marR="54864" marT="22860" marB="22860" anchor="ctr">
                    <a:solidFill>
                      <a:srgbClr val="FFFFFF"/>
                    </a:solidFill>
                  </a:tcPr>
                </a:tc>
                <a:tc>
                  <a:txBody>
                    <a:bodyPr wrap="square"/>
                    <a:lstStyle/>
                    <a:p>
                      <a:r>
                        <a:rPr sz="1100" b="0">
                          <a:solidFill>
                            <a:srgbClr val="1F2937"/>
                          </a:solidFill>
                          <a:latin typeface="Calibri"/>
                        </a:rPr>
                        <a:t>ExpandPanel, NavigationButtons, LocationValidation</a:t>
                      </a:r>
                    </a:p>
                  </a:txBody>
                  <a:tcPr marL="54864" marR="54864" marT="22860" marB="22860" anchor="ctr">
                    <a:solidFill>
                      <a:srgbClr val="FFFFFF"/>
                    </a:solidFill>
                  </a:tcPr>
                </a:tc>
              </a:tr>
              <a:tr h="457200">
                <a:tc>
                  <a:txBody>
                    <a:bodyPr wrap="square"/>
                    <a:lstStyle/>
                    <a:p>
                      <a:r>
                        <a:rPr sz="1100" b="0">
                          <a:solidFill>
                            <a:srgbClr val="1F2937"/>
                          </a:solidFill>
                          <a:latin typeface="Calibri"/>
                        </a:rPr>
                        <a:t>Page look: header, side menu, colours</a:t>
                      </a:r>
                    </a:p>
                  </a:txBody>
                  <a:tcPr marL="54864" marR="54864" marT="22860" marB="22860" anchor="ctr">
                    <a:solidFill>
                      <a:srgbClr val="EEF2F9"/>
                    </a:solidFill>
                  </a:tcPr>
                </a:tc>
                <a:tc>
                  <a:txBody>
                    <a:bodyPr wrap="square"/>
                    <a:lstStyle/>
                    <a:p>
                      <a:r>
                        <a:rPr sz="1100" b="0">
                          <a:solidFill>
                            <a:srgbClr val="1F2937"/>
                          </a:solidFill>
                          <a:latin typeface="Calibri"/>
                        </a:rPr>
                        <a:t>endo-nav site you pointed us to (index.html)</a:t>
                      </a:r>
                    </a:p>
                  </a:txBody>
                  <a:tcPr marL="54864" marR="54864" marT="22860" marB="22860" anchor="ctr">
                    <a:solidFill>
                      <a:srgbClr val="EEF2F9"/>
                    </a:solidFill>
                  </a:tcPr>
                </a:tc>
                <a:tc>
                  <a:txBody>
                    <a:bodyPr wrap="square"/>
                    <a:lstStyle/>
                    <a:p>
                      <a:r>
                        <a:rPr sz="1100" b="0">
                          <a:solidFill>
                            <a:srgbClr val="1F2937"/>
                          </a:solidFill>
                          <a:latin typeface="Calibri"/>
                        </a:rPr>
                        <a:t>Style rules copied and trimmed</a:t>
                      </a:r>
                    </a:p>
                  </a:txBody>
                  <a:tcPr marL="54864" marR="54864" marT="22860" marB="22860" anchor="ctr">
                    <a:solidFill>
                      <a:srgbClr val="EEF2F9"/>
                    </a:solidFill>
                  </a:tcPr>
                </a:tc>
              </a:tr>
              <a:tr h="457200">
                <a:tc>
                  <a:txBody>
                    <a:bodyPr wrap="square"/>
                    <a:lstStyle/>
                    <a:p>
                      <a:r>
                        <a:rPr sz="1100" b="0">
                          <a:solidFill>
                            <a:srgbClr val="1F2937"/>
                          </a:solidFill>
                          <a:latin typeface="Calibri"/>
                        </a:rPr>
                        <a:t>Sample Details values (agency, submission number)</a:t>
                      </a:r>
                    </a:p>
                  </a:txBody>
                  <a:tcPr marL="54864" marR="54864" marT="22860" marB="22860" anchor="ctr">
                    <a:solidFill>
                      <a:srgbClr val="FFFFFF"/>
                    </a:solidFill>
                  </a:tcPr>
                </a:tc>
                <a:tc>
                  <a:txBody>
                    <a:bodyPr wrap="square"/>
                    <a:lstStyle/>
                    <a:p>
                      <a:r>
                        <a:rPr sz="1100" b="0">
                          <a:solidFill>
                            <a:srgbClr val="1F2937"/>
                          </a:solidFill>
                          <a:latin typeface="Calibri"/>
                        </a:rPr>
                        <a:t>Test data in the pages you sent</a:t>
                      </a:r>
                    </a:p>
                  </a:txBody>
                  <a:tcPr marL="54864" marR="54864" marT="22860" marB="22860" anchor="ctr">
                    <a:solidFill>
                      <a:srgbClr val="FFFFFF"/>
                    </a:solidFill>
                  </a:tcPr>
                </a:tc>
                <a:tc>
                  <a:txBody>
                    <a:bodyPr wrap="square"/>
                    <a:lstStyle/>
                    <a:p>
                      <a:r>
                        <a:rPr sz="1100" b="0">
                          <a:solidFill>
                            <a:srgbClr val="1F2937"/>
                          </a:solidFill>
                          <a:latin typeface="Calibri"/>
                        </a:rPr>
                        <a:t>Sample only, not real data</a:t>
                      </a:r>
                    </a:p>
                  </a:txBody>
                  <a:tcPr marL="54864" marR="54864" marT="22860" marB="22860" anchor="ctr">
                    <a:solidFill>
                      <a:srgbClr val="FFFFFF"/>
                    </a:solidFill>
                  </a:tcPr>
                </a:tc>
              </a:tr>
              <a:tr h="457200">
                <a:tc>
                  <a:txBody>
                    <a:bodyPr wrap="square"/>
                    <a:lstStyle/>
                    <a:p>
                      <a:r>
                        <a:rPr sz="1100" b="0">
                          <a:solidFill>
                            <a:srgbClr val="1F2937"/>
                          </a:solidFill>
                          <a:latin typeface="Calibri"/>
                        </a:rPr>
                        <a:t>Next unlocks after one Policy and one underlying row (ours)</a:t>
                      </a:r>
                    </a:p>
                  </a:txBody>
                  <a:tcPr marL="54864" marR="54864" marT="22860" marB="22860" anchor="ctr">
                    <a:solidFill>
                      <a:srgbClr val="EEF2F9"/>
                    </a:solidFill>
                  </a:tcPr>
                </a:tc>
                <a:tc>
                  <a:txBody>
                    <a:bodyPr wrap="square"/>
                    <a:lstStyle/>
                    <a:p>
                      <a:r>
                        <a:rPr sz="1100" b="0">
                          <a:solidFill>
                            <a:srgbClr val="1F2937"/>
                          </a:solidFill>
                          <a:latin typeface="Calibri"/>
                        </a:rPr>
                        <a:t>Note text on the SWP page</a:t>
                      </a:r>
                    </a:p>
                  </a:txBody>
                  <a:tcPr marL="54864" marR="54864" marT="22860" marB="22860" anchor="ctr">
                    <a:solidFill>
                      <a:srgbClr val="EEF2F9"/>
                    </a:solidFill>
                  </a:tcPr>
                </a:tc>
                <a:tc>
                  <a:txBody>
                    <a:bodyPr wrap="square"/>
                    <a:lstStyle/>
                    <a:p>
                      <a:r>
                        <a:rPr sz="1100" b="0">
                          <a:solidFill>
                            <a:srgbClr val="1F2937"/>
                          </a:solidFill>
                          <a:latin typeface="Calibri"/>
                        </a:rPr>
                        <a:t>Our reading of the note</a:t>
                      </a:r>
                    </a:p>
                  </a:txBody>
                  <a:tcPr marL="54864" marR="54864" marT="22860" marB="22860" anchor="ctr">
                    <a:solidFill>
                      <a:srgbClr val="EEF2F9"/>
                    </a:solidFill>
                  </a:tcPr>
                </a:tc>
              </a:tr>
              <a:tr h="457200">
                <a:tc>
                  <a:txBody>
                    <a:bodyPr wrap="square"/>
                    <a:lstStyle/>
                    <a:p>
                      <a:r>
                        <a:rPr sz="1100" b="0">
                          <a:solidFill>
                            <a:srgbClr val="1F2937"/>
                          </a:solidFill>
                          <a:latin typeface="Calibri"/>
                        </a:rPr>
                        <a:t>Save and delete event names, ids, parent key (ours)</a:t>
                      </a:r>
                    </a:p>
                  </a:txBody>
                  <a:tcPr marL="54864" marR="54864" marT="22860" marB="22860" anchor="ctr">
                    <a:solidFill>
                      <a:srgbClr val="FFFFFF"/>
                    </a:solidFill>
                  </a:tcPr>
                </a:tc>
                <a:tc>
                  <a:txBody>
                    <a:bodyPr wrap="square"/>
                    <a:lstStyle/>
                    <a:p>
                      <a:r>
                        <a:rPr sz="1100" b="0">
                          <a:solidFill>
                            <a:srgbClr val="1F2937"/>
                          </a:solidFill>
                          <a:latin typeface="Calibri"/>
                        </a:rPr>
                        <a:t>No file yet</a:t>
                      </a:r>
                    </a:p>
                  </a:txBody>
                  <a:tcPr marL="54864" marR="54864" marT="22860" marB="22860" anchor="ctr">
                    <a:solidFill>
                      <a:srgbClr val="FFFFFF"/>
                    </a:solidFill>
                  </a:tcPr>
                </a:tc>
                <a:tc>
                  <a:txBody>
                    <a:bodyPr wrap="square"/>
                    <a:lstStyle/>
                    <a:p>
                      <a:r>
                        <a:rPr sz="1100" b="0">
                          <a:solidFill>
                            <a:srgbClr val="1F2937"/>
                          </a:solidFill>
                          <a:latin typeface="Calibri"/>
                        </a:rPr>
                        <a:t>Placeholders until the real setup exists</a:t>
                      </a:r>
                    </a:p>
                  </a:txBody>
                  <a:tcPr marL="54864" marR="54864" marT="22860" marB="22860"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Policy Fields — Cover and Limits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10</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Fields sheet, page 'Policy Detail' (Quote Required, Default, Domain Table, Condition columns)</a:t>
            </a:r>
          </a:p>
        </p:txBody>
      </p:sp>
      <p:graphicFrame>
        <p:nvGraphicFramePr>
          <p:cNvPr id="8" name="Table 7"/>
          <p:cNvGraphicFramePr>
            <a:graphicFrameLocks noGrp="1"/>
          </p:cNvGraphicFramePr>
          <p:nvPr/>
        </p:nvGraphicFramePr>
        <p:xfrm>
          <a:off x="365760" y="1097280"/>
          <a:ext cx="11475720" cy="4663440"/>
        </p:xfrm>
        <a:graphic>
          <a:graphicData uri="http://schemas.openxmlformats.org/drawingml/2006/table">
            <a:tbl>
              <a:tblPr firstRow="1" bandRow="1">
                <a:tableStyleId>{5C22544A-7EE6-4342-B048-85BDC9FD1C3A}</a:tableStyleId>
              </a:tblPr>
              <a:tblGrid>
                <a:gridCol w="4297680"/>
                <a:gridCol w="594360"/>
                <a:gridCol w="1097280"/>
                <a:gridCol w="1188720"/>
                <a:gridCol w="1554480"/>
                <a:gridCol w="2743200"/>
              </a:tblGrid>
              <a:tr h="310896">
                <a:tc>
                  <a:txBody>
                    <a:bodyPr wrap="square"/>
                    <a:lstStyle/>
                    <a:p>
                      <a:r>
                        <a:rPr sz="950" b="1">
                          <a:solidFill>
                            <a:srgbClr val="FFFFFF"/>
                          </a:solidFill>
                          <a:latin typeface="Calibri"/>
                        </a:rPr>
                        <a:t>Label</a:t>
                      </a:r>
                    </a:p>
                  </a:txBody>
                  <a:tcPr marL="54864" marR="54864" marT="22860" marB="22860" anchor="ctr">
                    <a:solidFill>
                      <a:srgbClr val="0B3B7A"/>
                    </a:solidFill>
                  </a:tcPr>
                </a:tc>
                <a:tc>
                  <a:txBody>
                    <a:bodyPr wrap="square"/>
                    <a:lstStyle/>
                    <a:p>
                      <a:r>
                        <a:rPr sz="950" b="1">
                          <a:solidFill>
                            <a:srgbClr val="FFFFFF"/>
                          </a:solidFill>
                          <a:latin typeface="Calibri"/>
                        </a:rPr>
                        <a:t>Type</a:t>
                      </a:r>
                    </a:p>
                  </a:txBody>
                  <a:tcPr marL="54864" marR="54864" marT="22860" marB="22860" anchor="ctr">
                    <a:solidFill>
                      <a:srgbClr val="0B3B7A"/>
                    </a:solidFill>
                  </a:tcPr>
                </a:tc>
                <a:tc>
                  <a:txBody>
                    <a:bodyPr wrap="square"/>
                    <a:lstStyle/>
                    <a:p>
                      <a:r>
                        <a:rPr sz="950" b="1">
                          <a:solidFill>
                            <a:srgbClr val="FFFFFF"/>
                          </a:solidFill>
                          <a:latin typeface="Calibri"/>
                        </a:rPr>
                        <a:t>Required</a:t>
                      </a:r>
                    </a:p>
                  </a:txBody>
                  <a:tcPr marL="54864" marR="54864" marT="22860" marB="22860" anchor="ctr">
                    <a:solidFill>
                      <a:srgbClr val="0B3B7A"/>
                    </a:solidFill>
                  </a:tcPr>
                </a:tc>
                <a:tc>
                  <a:txBody>
                    <a:bodyPr wrap="square"/>
                    <a:lstStyle/>
                    <a:p>
                      <a:r>
                        <a:rPr sz="950" b="1">
                          <a:solidFill>
                            <a:srgbClr val="FFFFFF"/>
                          </a:solidFill>
                          <a:latin typeface="Calibri"/>
                        </a:rPr>
                        <a:t>Default</a:t>
                      </a:r>
                    </a:p>
                  </a:txBody>
                  <a:tcPr marL="54864" marR="54864" marT="22860" marB="22860" anchor="ctr">
                    <a:solidFill>
                      <a:srgbClr val="0B3B7A"/>
                    </a:solidFill>
                  </a:tcPr>
                </a:tc>
                <a:tc>
                  <a:txBody>
                    <a:bodyPr wrap="square"/>
                    <a:lstStyle/>
                    <a:p>
                      <a:r>
                        <a:rPr sz="950" b="1">
                          <a:solidFill>
                            <a:srgbClr val="FFFFFF"/>
                          </a:solidFill>
                          <a:latin typeface="Calibri"/>
                        </a:rPr>
                        <a:t>List</a:t>
                      </a:r>
                    </a:p>
                  </a:txBody>
                  <a:tcPr marL="54864" marR="54864" marT="22860" marB="22860" anchor="ctr">
                    <a:solidFill>
                      <a:srgbClr val="0B3B7A"/>
                    </a:solidFill>
                  </a:tcPr>
                </a:tc>
                <a:tc>
                  <a:txBody>
                    <a:bodyPr wrap="square"/>
                    <a:lstStyle/>
                    <a:p>
                      <a:r>
                        <a:rPr sz="950" b="1">
                          <a:solidFill>
                            <a:srgbClr val="FFFFFF"/>
                          </a:solidFill>
                          <a:latin typeface="Calibri"/>
                        </a:rPr>
                        <a:t>Shown when</a:t>
                      </a:r>
                    </a:p>
                  </a:txBody>
                  <a:tcPr marL="54864" marR="54864" marT="22860" marB="22860" anchor="ctr">
                    <a:solidFill>
                      <a:srgbClr val="0B3B7A"/>
                    </a:solidFill>
                  </a:tcPr>
                </a:tc>
              </a:tr>
              <a:tr h="310896">
                <a:tc>
                  <a:txBody>
                    <a:bodyPr wrap="square"/>
                    <a:lstStyle/>
                    <a:p>
                      <a:r>
                        <a:rPr sz="950" b="0">
                          <a:solidFill>
                            <a:srgbClr val="1F2937"/>
                          </a:solidFill>
                          <a:latin typeface="Calibri"/>
                        </a:rPr>
                        <a:t>Risk Type</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a:t>
                      </a:r>
                    </a:p>
                  </a:txBody>
                  <a:tcPr marL="54864" marR="54864" marT="22860" marB="22860" anchor="ctr">
                    <a:solidFill>
                      <a:srgbClr val="FFFFFF"/>
                    </a:solidFill>
                  </a:tcPr>
                </a:tc>
                <a:tc>
                  <a:txBody>
                    <a:bodyPr wrap="square"/>
                    <a:lstStyle/>
                    <a:p>
                      <a:r>
                        <a:rPr sz="950" b="0">
                          <a:solidFill>
                            <a:srgbClr val="1F2937"/>
                          </a:solidFill>
                          <a:latin typeface="Calibri"/>
                        </a:rPr>
                        <a:t>RiskType</a:t>
                      </a:r>
                    </a:p>
                  </a:txBody>
                  <a:tcPr marL="54864" marR="54864" marT="22860" marB="22860" anchor="ctr">
                    <a:solidFill>
                      <a:srgbClr val="FFFFFF"/>
                    </a:solidFill>
                  </a:tcPr>
                </a:tc>
                <a:tc>
                  <a:txBody>
                    <a:bodyPr wrap="square"/>
                    <a:lstStyle/>
                    <a:p>
                      <a:r>
                        <a:rPr sz="950" b="0">
                          <a:solidFill>
                            <a:srgbClr val="1F2937"/>
                          </a:solidFill>
                          <a:latin typeface="Calibri"/>
                        </a:rPr>
                        <a:t>Package policy only</a:t>
                      </a:r>
                    </a:p>
                  </a:txBody>
                  <a:tcPr marL="54864" marR="54864" marT="22860" marB="22860" anchor="ctr">
                    <a:solidFill>
                      <a:srgbClr val="FFFFFF"/>
                    </a:solidFill>
                  </a:tcPr>
                </a:tc>
              </a:tr>
              <a:tr h="310896">
                <a:tc>
                  <a:txBody>
                    <a:bodyPr wrap="square"/>
                    <a:lstStyle/>
                    <a:p>
                      <a:r>
                        <a:rPr sz="950" b="0">
                          <a:solidFill>
                            <a:srgbClr val="1F2937"/>
                          </a:solidFill>
                          <a:latin typeface="Calibri"/>
                        </a:rPr>
                        <a:t>Policy Coverage Form</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a:t>
                      </a:r>
                    </a:p>
                  </a:txBody>
                  <a:tcPr marL="54864" marR="54864" marT="22860" marB="22860" anchor="ctr">
                    <a:solidFill>
                      <a:srgbClr val="EEF2F9"/>
                    </a:solidFill>
                  </a:tcPr>
                </a:tc>
                <a:tc>
                  <a:txBody>
                    <a:bodyPr wrap="square"/>
                    <a:lstStyle/>
                    <a:p>
                      <a:r>
                        <a:rPr sz="950" b="0">
                          <a:solidFill>
                            <a:srgbClr val="1F2937"/>
                          </a:solidFill>
                          <a:latin typeface="Calibri"/>
                        </a:rPr>
                        <a:t>Commercial Umbrella Coverage Form</a:t>
                      </a:r>
                    </a:p>
                  </a:txBody>
                  <a:tcPr marL="54864" marR="54864" marT="22860" marB="22860" anchor="ctr">
                    <a:solidFill>
                      <a:srgbClr val="EEF2F9"/>
                    </a:solidFill>
                  </a:tcPr>
                </a:tc>
                <a:tc>
                  <a:txBody>
                    <a:bodyPr wrap="square"/>
                    <a:lstStyle/>
                    <a:p>
                      <a:r>
                        <a:rPr sz="950" b="0">
                          <a:solidFill>
                            <a:srgbClr val="1F2937"/>
                          </a:solidFill>
                          <a:latin typeface="Calibri"/>
                        </a:rPr>
                        <a:t>PolicyCoverageForm</a:t>
                      </a:r>
                    </a:p>
                  </a:txBody>
                  <a:tcPr marL="54864" marR="54864" marT="22860" marB="22860" anchor="ctr">
                    <a:solidFill>
                      <a:srgbClr val="EEF2F9"/>
                    </a:solidFill>
                  </a:tcPr>
                </a:tc>
                <a:tc>
                  <a:txBody>
                    <a:bodyPr wrap="square"/>
                    <a:lstStyle/>
                    <a:p>
                      <a:r>
                        <a:rPr sz="950" b="0">
                          <a:solidFill>
                            <a:srgbClr val="1F2937"/>
                          </a:solidFill>
                          <a:latin typeface="Calibri"/>
                        </a:rPr>
                        <a:t>Always</a:t>
                      </a:r>
                    </a:p>
                  </a:txBody>
                  <a:tcPr marL="54864" marR="54864" marT="22860" marB="22860" anchor="ctr">
                    <a:solidFill>
                      <a:srgbClr val="EEF2F9"/>
                    </a:solidFill>
                  </a:tcPr>
                </a:tc>
              </a:tr>
              <a:tr h="310896">
                <a:tc>
                  <a:txBody>
                    <a:bodyPr wrap="square"/>
                    <a:lstStyle/>
                    <a:p>
                      <a:r>
                        <a:rPr sz="950" b="0">
                          <a:solidFill>
                            <a:srgbClr val="1F2937"/>
                          </a:solidFill>
                          <a:latin typeface="Calibri"/>
                        </a:rPr>
                        <a:t>Legal Entity</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No</a:t>
                      </a:r>
                    </a:p>
                  </a:txBody>
                  <a:tcPr marL="54864" marR="54864" marT="22860" marB="22860" anchor="ctr">
                    <a:solidFill>
                      <a:srgbClr val="FFFFFF"/>
                    </a:solidFill>
                  </a:tcPr>
                </a:tc>
                <a:tc>
                  <a:txBody>
                    <a:bodyPr wrap="square"/>
                    <a:lstStyle/>
                    <a:p>
                      <a:r>
                        <a:rPr sz="950" b="0">
                          <a:solidFill>
                            <a:srgbClr val="1F2937"/>
                          </a:solidFill>
                          <a:latin typeface="Calibri"/>
                        </a:rPr>
                        <a:t>Corporation</a:t>
                      </a:r>
                    </a:p>
                  </a:txBody>
                  <a:tcPr marL="54864" marR="54864" marT="22860" marB="22860" anchor="ctr">
                    <a:solidFill>
                      <a:srgbClr val="FFFFFF"/>
                    </a:solidFill>
                  </a:tcPr>
                </a:tc>
                <a:tc>
                  <a:txBody>
                    <a:bodyPr wrap="square"/>
                    <a:lstStyle/>
                    <a:p>
                      <a:r>
                        <a:rPr sz="950" b="0">
                          <a:solidFill>
                            <a:srgbClr val="1F2937"/>
                          </a:solidFill>
                          <a:latin typeface="Calibri"/>
                        </a:rPr>
                        <a:t>LegalEntity</a:t>
                      </a:r>
                    </a:p>
                  </a:txBody>
                  <a:tcPr marL="54864" marR="54864" marT="22860" marB="22860" anchor="ctr">
                    <a:solidFill>
                      <a:srgbClr val="FFFFFF"/>
                    </a:solidFill>
                  </a:tcPr>
                </a:tc>
                <a:tc>
                  <a:txBody>
                    <a:bodyPr wrap="square"/>
                    <a:lstStyle/>
                    <a:p>
                      <a:r>
                        <a:rPr sz="950" b="0">
                          <a:solidFill>
                            <a:srgbClr val="1F2937"/>
                          </a:solidFill>
                          <a:latin typeface="Calibri"/>
                        </a:rPr>
                        <a:t>Always</a:t>
                      </a:r>
                    </a:p>
                  </a:txBody>
                  <a:tcPr marL="54864" marR="54864" marT="22860" marB="22860" anchor="ctr">
                    <a:solidFill>
                      <a:srgbClr val="FFFFFF"/>
                    </a:solidFill>
                  </a:tcPr>
                </a:tc>
              </a:tr>
              <a:tr h="310896">
                <a:tc>
                  <a:txBody>
                    <a:bodyPr wrap="square"/>
                    <a:lstStyle/>
                    <a:p>
                      <a:r>
                        <a:rPr sz="950" b="0">
                          <a:solidFill>
                            <a:srgbClr val="1F2937"/>
                          </a:solidFill>
                          <a:latin typeface="Calibri"/>
                        </a:rPr>
                        <a:t>Umbrella Limit</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 (when shown)</a:t>
                      </a:r>
                    </a:p>
                  </a:txBody>
                  <a:tcPr marL="54864" marR="54864" marT="22860" marB="22860" anchor="ctr">
                    <a:solidFill>
                      <a:srgbClr val="EEF2F9"/>
                    </a:solidFill>
                  </a:tcPr>
                </a:tc>
                <a:tc>
                  <a:txBody>
                    <a:bodyPr wrap="square"/>
                    <a:lstStyle/>
                    <a:p>
                      <a:r>
                        <a:rPr sz="950" b="0">
                          <a:solidFill>
                            <a:srgbClr val="1F2937"/>
                          </a:solidFill>
                          <a:latin typeface="Calibri"/>
                        </a:rPr>
                        <a:t>1,000,000</a:t>
                      </a:r>
                    </a:p>
                  </a:txBody>
                  <a:tcPr marL="54864" marR="54864" marT="22860" marB="22860" anchor="ctr">
                    <a:solidFill>
                      <a:srgbClr val="EEF2F9"/>
                    </a:solidFill>
                  </a:tcPr>
                </a:tc>
                <a:tc>
                  <a:txBody>
                    <a:bodyPr wrap="square"/>
                    <a:lstStyle/>
                    <a:p>
                      <a:r>
                        <a:rPr sz="950" b="0">
                          <a:solidFill>
                            <a:srgbClr val="1F2937"/>
                          </a:solidFill>
                          <a:latin typeface="Calibri"/>
                        </a:rPr>
                        <a:t>Limit</a:t>
                      </a:r>
                    </a:p>
                  </a:txBody>
                  <a:tcPr marL="54864" marR="54864" marT="22860" marB="22860" anchor="ctr">
                    <a:solidFill>
                      <a:srgbClr val="EEF2F9"/>
                    </a:solidFill>
                  </a:tcPr>
                </a:tc>
                <a:tc>
                  <a:txBody>
                    <a:bodyPr wrap="square"/>
                    <a:lstStyle/>
                    <a:p>
                      <a:r>
                        <a:rPr sz="950" b="0">
                          <a:solidFill>
                            <a:srgbClr val="1F2937"/>
                          </a:solidFill>
                          <a:latin typeface="Calibri"/>
                        </a:rPr>
                        <a:t>Umbrella form, or both forms</a:t>
                      </a:r>
                    </a:p>
                  </a:txBody>
                  <a:tcPr marL="54864" marR="54864" marT="22860" marB="22860" anchor="ctr">
                    <a:solidFill>
                      <a:srgbClr val="EEF2F9"/>
                    </a:solidFill>
                  </a:tcPr>
                </a:tc>
              </a:tr>
              <a:tr h="310896">
                <a:tc>
                  <a:txBody>
                    <a:bodyPr wrap="square"/>
                    <a:lstStyle/>
                    <a:p>
                      <a:r>
                        <a:rPr sz="950" b="0">
                          <a:solidFill>
                            <a:srgbClr val="1F2937"/>
                          </a:solidFill>
                          <a:latin typeface="Calibri"/>
                        </a:rPr>
                        <a:t>Umbrella Self Insured Retention</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10,000</a:t>
                      </a:r>
                    </a:p>
                  </a:txBody>
                  <a:tcPr marL="54864" marR="54864" marT="22860" marB="22860" anchor="ctr">
                    <a:solidFill>
                      <a:srgbClr val="FFFFFF"/>
                    </a:solidFill>
                  </a:tcPr>
                </a:tc>
                <a:tc>
                  <a:txBody>
                    <a:bodyPr wrap="square"/>
                    <a:lstStyle/>
                    <a:p>
                      <a:r>
                        <a:rPr sz="950" b="0">
                          <a:solidFill>
                            <a:srgbClr val="1F2937"/>
                          </a:solidFill>
                          <a:latin typeface="Calibri"/>
                        </a:rPr>
                        <a:t>LiabilityLimitNotApplicable</a:t>
                      </a:r>
                    </a:p>
                  </a:txBody>
                  <a:tcPr marL="54864" marR="54864" marT="22860" marB="22860" anchor="ctr">
                    <a:solidFill>
                      <a:srgbClr val="FFFFFF"/>
                    </a:solidFill>
                  </a:tcPr>
                </a:tc>
                <a:tc>
                  <a:txBody>
                    <a:bodyPr wrap="square"/>
                    <a:lstStyle/>
                    <a:p>
                      <a:r>
                        <a:rPr sz="950" b="0">
                          <a:solidFill>
                            <a:srgbClr val="1F2937"/>
                          </a:solidFill>
                          <a:latin typeface="Calibri"/>
                        </a:rPr>
                        <a:t>Umbrella form, or both forms</a:t>
                      </a:r>
                    </a:p>
                  </a:txBody>
                  <a:tcPr marL="54864" marR="54864" marT="22860" marB="22860" anchor="ctr">
                    <a:solidFill>
                      <a:srgbClr val="FFFFFF"/>
                    </a:solidFill>
                  </a:tcPr>
                </a:tc>
              </a:tr>
              <a:tr h="310896">
                <a:tc>
                  <a:txBody>
                    <a:bodyPr wrap="square"/>
                    <a:lstStyle/>
                    <a:p>
                      <a:r>
                        <a:rPr sz="950" b="0">
                          <a:solidFill>
                            <a:srgbClr val="1F2937"/>
                          </a:solidFill>
                          <a:latin typeface="Calibri"/>
                        </a:rPr>
                        <a:t>Excess Liability Limit</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 (when shown)</a:t>
                      </a:r>
                    </a:p>
                  </a:txBody>
                  <a:tcPr marL="54864" marR="54864" marT="22860" marB="22860" anchor="ctr">
                    <a:solidFill>
                      <a:srgbClr val="EEF2F9"/>
                    </a:solidFill>
                  </a:tcPr>
                </a:tc>
                <a:tc>
                  <a:txBody>
                    <a:bodyPr wrap="square"/>
                    <a:lstStyle/>
                    <a:p>
                      <a:r>
                        <a:rPr sz="950" b="0">
                          <a:solidFill>
                            <a:srgbClr val="1F2937"/>
                          </a:solidFill>
                          <a:latin typeface="Calibri"/>
                        </a:rPr>
                        <a:t>1,000,000</a:t>
                      </a:r>
                    </a:p>
                  </a:txBody>
                  <a:tcPr marL="54864" marR="54864" marT="22860" marB="22860" anchor="ctr">
                    <a:solidFill>
                      <a:srgbClr val="EEF2F9"/>
                    </a:solidFill>
                  </a:tcPr>
                </a:tc>
                <a:tc>
                  <a:txBody>
                    <a:bodyPr wrap="square"/>
                    <a:lstStyle/>
                    <a:p>
                      <a:r>
                        <a:rPr sz="950" b="0">
                          <a:solidFill>
                            <a:srgbClr val="1F2937"/>
                          </a:solidFill>
                          <a:latin typeface="Calibri"/>
                        </a:rPr>
                        <a:t>Limit</a:t>
                      </a:r>
                    </a:p>
                  </a:txBody>
                  <a:tcPr marL="54864" marR="54864" marT="22860" marB="22860" anchor="ctr">
                    <a:solidFill>
                      <a:srgbClr val="EEF2F9"/>
                    </a:solidFill>
                  </a:tcPr>
                </a:tc>
                <a:tc>
                  <a:txBody>
                    <a:bodyPr wrap="square"/>
                    <a:lstStyle/>
                    <a:p>
                      <a:r>
                        <a:rPr sz="950" b="0">
                          <a:solidFill>
                            <a:srgbClr val="1F2937"/>
                          </a:solidFill>
                          <a:latin typeface="Calibri"/>
                        </a:rPr>
                        <a:t>Excess form, or both forms</a:t>
                      </a:r>
                    </a:p>
                  </a:txBody>
                  <a:tcPr marL="54864" marR="54864" marT="22860" marB="22860" anchor="ctr">
                    <a:solidFill>
                      <a:srgbClr val="EEF2F9"/>
                    </a:solidFill>
                  </a:tcPr>
                </a:tc>
              </a:tr>
              <a:tr h="310896">
                <a:tc>
                  <a:txBody>
                    <a:bodyPr wrap="square"/>
                    <a:lstStyle/>
                    <a:p>
                      <a:r>
                        <a:rPr sz="950" b="0">
                          <a:solidFill>
                            <a:srgbClr val="1F2937"/>
                          </a:solidFill>
                          <a:latin typeface="Calibri"/>
                        </a:rPr>
                        <a:t>Excess Liability Self Insured Retention</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10,000</a:t>
                      </a:r>
                    </a:p>
                  </a:txBody>
                  <a:tcPr marL="54864" marR="54864" marT="22860" marB="22860" anchor="ctr">
                    <a:solidFill>
                      <a:srgbClr val="FFFFFF"/>
                    </a:solidFill>
                  </a:tcPr>
                </a:tc>
                <a:tc>
                  <a:txBody>
                    <a:bodyPr wrap="square"/>
                    <a:lstStyle/>
                    <a:p>
                      <a:r>
                        <a:rPr sz="950" b="0">
                          <a:solidFill>
                            <a:srgbClr val="1F2937"/>
                          </a:solidFill>
                          <a:latin typeface="Calibri"/>
                        </a:rPr>
                        <a:t>LiabilityLimitNotApplicable</a:t>
                      </a:r>
                    </a:p>
                  </a:txBody>
                  <a:tcPr marL="54864" marR="54864" marT="22860" marB="22860" anchor="ctr">
                    <a:solidFill>
                      <a:srgbClr val="FFFFFF"/>
                    </a:solidFill>
                  </a:tcPr>
                </a:tc>
                <a:tc>
                  <a:txBody>
                    <a:bodyPr wrap="square"/>
                    <a:lstStyle/>
                    <a:p>
                      <a:r>
                        <a:rPr sz="950" b="0">
                          <a:solidFill>
                            <a:srgbClr val="1F2937"/>
                          </a:solidFill>
                          <a:latin typeface="Calibri"/>
                        </a:rPr>
                        <a:t>Excess form, or both forms</a:t>
                      </a:r>
                    </a:p>
                  </a:txBody>
                  <a:tcPr marL="54864" marR="54864" marT="22860" marB="22860" anchor="ctr">
                    <a:solidFill>
                      <a:srgbClr val="FFFFFF"/>
                    </a:solidFill>
                  </a:tcPr>
                </a:tc>
              </a:tr>
              <a:tr h="310896">
                <a:tc>
                  <a:txBody>
                    <a:bodyPr wrap="square"/>
                    <a:lstStyle/>
                    <a:p>
                      <a:r>
                        <a:rPr sz="950" b="0">
                          <a:solidFill>
                            <a:srgbClr val="1F2937"/>
                          </a:solidFill>
                          <a:latin typeface="Calibri"/>
                        </a:rPr>
                        <a:t>Terrorism Risk Insurance Program (TRIP) terminates before policy expiration date</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a:t>
                      </a:r>
                    </a:p>
                  </a:txBody>
                  <a:tcPr marL="54864" marR="54864" marT="22860" marB="22860" anchor="ctr">
                    <a:solidFill>
                      <a:srgbClr val="EEF2F9"/>
                    </a:solidFill>
                  </a:tcPr>
                </a:tc>
                <a:tc>
                  <a:txBody>
                    <a:bodyPr wrap="square"/>
                    <a:lstStyle/>
                    <a:p>
                      <a:r>
                        <a:rPr sz="950" b="0">
                          <a:solidFill>
                            <a:srgbClr val="1F2937"/>
                          </a:solidFill>
                          <a:latin typeface="Calibri"/>
                        </a:rPr>
                        <a:t>No</a:t>
                      </a:r>
                    </a:p>
                  </a:txBody>
                  <a:tcPr marL="54864" marR="54864" marT="22860" marB="22860" anchor="ctr">
                    <a:solidFill>
                      <a:srgbClr val="EEF2F9"/>
                    </a:solidFill>
                  </a:tcPr>
                </a:tc>
                <a:tc>
                  <a:txBody>
                    <a:bodyPr wrap="square"/>
                    <a:lstStyle/>
                    <a:p>
                      <a:r>
                        <a:rPr sz="950" b="0">
                          <a:solidFill>
                            <a:srgbClr val="1F2937"/>
                          </a:solidFill>
                          <a:latin typeface="Calibri"/>
                        </a:rPr>
                        <a:t>YesNo</a:t>
                      </a:r>
                    </a:p>
                  </a:txBody>
                  <a:tcPr marL="54864" marR="54864" marT="22860" marB="22860" anchor="ctr">
                    <a:solidFill>
                      <a:srgbClr val="EEF2F9"/>
                    </a:solidFill>
                  </a:tcPr>
                </a:tc>
                <a:tc>
                  <a:txBody>
                    <a:bodyPr wrap="square"/>
                    <a:lstStyle/>
                    <a:p>
                      <a:r>
                        <a:rPr sz="950" b="0">
                          <a:solidFill>
                            <a:srgbClr val="1F2937"/>
                          </a:solidFill>
                          <a:latin typeface="Calibri"/>
                        </a:rPr>
                        <a:t>Always</a:t>
                      </a:r>
                    </a:p>
                  </a:txBody>
                  <a:tcPr marL="54864" marR="54864" marT="22860" marB="22860" anchor="ctr">
                    <a:solidFill>
                      <a:srgbClr val="EEF2F9"/>
                    </a:solidFill>
                  </a:tcPr>
                </a:tc>
              </a:tr>
              <a:tr h="310896">
                <a:tc>
                  <a:txBody>
                    <a:bodyPr wrap="square"/>
                    <a:lstStyle/>
                    <a:p>
                      <a:r>
                        <a:rPr sz="950" b="0">
                          <a:solidFill>
                            <a:srgbClr val="1F2937"/>
                          </a:solidFill>
                          <a:latin typeface="Calibri"/>
                        </a:rPr>
                        <a:t>Has TRIA been extended past termination date of TRIP?</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No</a:t>
                      </a:r>
                    </a:p>
                  </a:txBody>
                  <a:tcPr marL="54864" marR="54864" marT="22860" marB="22860" anchor="ctr">
                    <a:solidFill>
                      <a:srgbClr val="FFFFFF"/>
                    </a:solidFill>
                  </a:tcPr>
                </a:tc>
                <a:tc>
                  <a:txBody>
                    <a:bodyPr wrap="square"/>
                    <a:lstStyle/>
                    <a:p>
                      <a:r>
                        <a:rPr sz="950" b="0">
                          <a:solidFill>
                            <a:srgbClr val="1F2937"/>
                          </a:solidFill>
                          <a:latin typeface="Calibri"/>
                        </a:rPr>
                        <a:t>YesNo</a:t>
                      </a:r>
                    </a:p>
                  </a:txBody>
                  <a:tcPr marL="54864" marR="54864" marT="22860" marB="22860" anchor="ctr">
                    <a:solidFill>
                      <a:srgbClr val="FFFFFF"/>
                    </a:solidFill>
                  </a:tcPr>
                </a:tc>
                <a:tc>
                  <a:txBody>
                    <a:bodyPr wrap="square"/>
                    <a:lstStyle/>
                    <a:p>
                      <a:r>
                        <a:rPr sz="950" b="0">
                          <a:solidFill>
                            <a:srgbClr val="1F2937"/>
                          </a:solidFill>
                          <a:latin typeface="Calibri"/>
                        </a:rPr>
                        <a:t>TRIP ends early = Yes</a:t>
                      </a:r>
                    </a:p>
                  </a:txBody>
                  <a:tcPr marL="54864" marR="54864" marT="22860" marB="22860" anchor="ctr">
                    <a:solidFill>
                      <a:srgbClr val="FFFFFF"/>
                    </a:solidFill>
                  </a:tcPr>
                </a:tc>
              </a:tr>
              <a:tr h="310896">
                <a:tc>
                  <a:txBody>
                    <a:bodyPr wrap="square"/>
                    <a:lstStyle/>
                    <a:p>
                      <a:r>
                        <a:rPr sz="950" b="0">
                          <a:solidFill>
                            <a:srgbClr val="1F2937"/>
                          </a:solidFill>
                          <a:latin typeface="Calibri"/>
                        </a:rPr>
                        <a:t>Enter current TRIA expiration date</a:t>
                      </a:r>
                    </a:p>
                  </a:txBody>
                  <a:tcPr marL="54864" marR="54864" marT="22860" marB="22860" anchor="ctr">
                    <a:solidFill>
                      <a:srgbClr val="EEF2F9"/>
                    </a:solidFill>
                  </a:tcPr>
                </a:tc>
                <a:tc>
                  <a:txBody>
                    <a:bodyPr wrap="square"/>
                    <a:lstStyle/>
                    <a:p>
                      <a:r>
                        <a:rPr sz="950" b="0">
                          <a:solidFill>
                            <a:srgbClr val="1F2937"/>
                          </a:solidFill>
                          <a:latin typeface="Calibri"/>
                        </a:rPr>
                        <a:t>Text</a:t>
                      </a:r>
                    </a:p>
                  </a:txBody>
                  <a:tcPr marL="54864" marR="54864" marT="22860" marB="22860" anchor="ctr">
                    <a:solidFill>
                      <a:srgbClr val="EEF2F9"/>
                    </a:solidFill>
                  </a:tcPr>
                </a:tc>
                <a:tc>
                  <a:txBody>
                    <a:bodyPr wrap="square"/>
                    <a:lstStyle/>
                    <a:p>
                      <a:r>
                        <a:rPr sz="950" b="0">
                          <a:solidFill>
                            <a:srgbClr val="1F2937"/>
                          </a:solidFill>
                          <a:latin typeface="Calibri"/>
                        </a:rPr>
                        <a:t>Yes (when shown)</a:t>
                      </a:r>
                    </a:p>
                  </a:txBody>
                  <a:tcPr marL="54864" marR="54864" marT="22860" marB="22860" anchor="ctr">
                    <a:solidFill>
                      <a:srgbClr val="EEF2F9"/>
                    </a:solidFill>
                  </a:tcPr>
                </a:tc>
                <a:tc>
                  <a:txBody>
                    <a:bodyPr wrap="square"/>
                    <a:lstStyle/>
                    <a:p>
                      <a:r>
                        <a:rPr sz="950" b="0">
                          <a:solidFill>
                            <a:srgbClr val="1F2937"/>
                          </a:solidFill>
                          <a:latin typeface="Calibri"/>
                        </a:rPr>
                        <a:t>—</a:t>
                      </a:r>
                    </a:p>
                  </a:txBody>
                  <a:tcPr marL="54864" marR="54864" marT="22860" marB="22860" anchor="ctr">
                    <a:solidFill>
                      <a:srgbClr val="EEF2F9"/>
                    </a:solidFill>
                  </a:tcPr>
                </a:tc>
                <a:tc>
                  <a:txBody>
                    <a:bodyPr wrap="square"/>
                    <a:lstStyle/>
                    <a:p>
                      <a:r>
                        <a:rPr sz="950" b="0">
                          <a:solidFill>
                            <a:srgbClr val="1F2937"/>
                          </a:solidFill>
                          <a:latin typeface="Calibri"/>
                        </a:rPr>
                        <a:t>Date</a:t>
                      </a:r>
                    </a:p>
                  </a:txBody>
                  <a:tcPr marL="54864" marR="54864" marT="22860" marB="22860" anchor="ctr">
                    <a:solidFill>
                      <a:srgbClr val="EEF2F9"/>
                    </a:solidFill>
                  </a:tcPr>
                </a:tc>
                <a:tc>
                  <a:txBody>
                    <a:bodyPr wrap="square"/>
                    <a:lstStyle/>
                    <a:p>
                      <a:r>
                        <a:rPr sz="950" b="0">
                          <a:solidFill>
                            <a:srgbClr val="1F2937"/>
                          </a:solidFill>
                          <a:latin typeface="Calibri"/>
                        </a:rPr>
                        <a:t>TRIP ends early = Yes</a:t>
                      </a:r>
                    </a:p>
                  </a:txBody>
                  <a:tcPr marL="54864" marR="54864" marT="22860" marB="22860" anchor="ctr">
                    <a:solidFill>
                      <a:srgbClr val="EEF2F9"/>
                    </a:solidFill>
                  </a:tcPr>
                </a:tc>
              </a:tr>
              <a:tr h="310896">
                <a:tc>
                  <a:txBody>
                    <a:bodyPr wrap="square"/>
                    <a:lstStyle/>
                    <a:p>
                      <a:r>
                        <a:rPr sz="950" b="0">
                          <a:solidFill>
                            <a:srgbClr val="1F2937"/>
                          </a:solidFill>
                          <a:latin typeface="Calibri"/>
                        </a:rPr>
                        <a:t>Accept Certified Acts of Terrorism</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a:t>
                      </a:r>
                    </a:p>
                  </a:txBody>
                  <a:tcPr marL="54864" marR="54864" marT="22860" marB="22860" anchor="ctr">
                    <a:solidFill>
                      <a:srgbClr val="FFFFFF"/>
                    </a:solidFill>
                  </a:tcPr>
                </a:tc>
                <a:tc>
                  <a:txBody>
                    <a:bodyPr wrap="square"/>
                    <a:lstStyle/>
                    <a:p>
                      <a:r>
                        <a:rPr sz="950" b="0">
                          <a:solidFill>
                            <a:srgbClr val="1F2937"/>
                          </a:solidFill>
                          <a:latin typeface="Calibri"/>
                        </a:rPr>
                        <a:t>—</a:t>
                      </a:r>
                    </a:p>
                  </a:txBody>
                  <a:tcPr marL="54864" marR="54864" marT="22860" marB="22860" anchor="ctr">
                    <a:solidFill>
                      <a:srgbClr val="FFFFFF"/>
                    </a:solidFill>
                  </a:tcPr>
                </a:tc>
                <a:tc>
                  <a:txBody>
                    <a:bodyPr wrap="square"/>
                    <a:lstStyle/>
                    <a:p>
                      <a:r>
                        <a:rPr sz="950" b="0">
                          <a:solidFill>
                            <a:srgbClr val="1F2937"/>
                          </a:solidFill>
                          <a:latin typeface="Calibri"/>
                        </a:rPr>
                        <a:t>YesNo</a:t>
                      </a:r>
                    </a:p>
                  </a:txBody>
                  <a:tcPr marL="54864" marR="54864" marT="22860" marB="22860" anchor="ctr">
                    <a:solidFill>
                      <a:srgbClr val="FFFFFF"/>
                    </a:solidFill>
                  </a:tcPr>
                </a:tc>
                <a:tc>
                  <a:txBody>
                    <a:bodyPr wrap="square"/>
                    <a:lstStyle/>
                    <a:p>
                      <a:r>
                        <a:rPr sz="950" b="0">
                          <a:solidFill>
                            <a:srgbClr val="1F2937"/>
                          </a:solidFill>
                          <a:latin typeface="Calibri"/>
                        </a:rPr>
                        <a:t>Always</a:t>
                      </a:r>
                    </a:p>
                  </a:txBody>
                  <a:tcPr marL="54864" marR="54864" marT="22860" marB="22860" anchor="ctr">
                    <a:solidFill>
                      <a:srgbClr val="FFFFFF"/>
                    </a:solidFill>
                  </a:tcPr>
                </a:tc>
              </a:tr>
              <a:tr h="310896">
                <a:tc>
                  <a:txBody>
                    <a:bodyPr wrap="square"/>
                    <a:lstStyle/>
                    <a:p>
                      <a:r>
                        <a:rPr sz="950" b="0">
                          <a:solidFill>
                            <a:srgbClr val="1F2937"/>
                          </a:solidFill>
                          <a:latin typeface="Calibri"/>
                        </a:rPr>
                        <a:t>Accept Certified Acts Terrorism Coverage Provided With Specific Limitations:</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 (when shown)</a:t>
                      </a:r>
                    </a:p>
                  </a:txBody>
                  <a:tcPr marL="54864" marR="54864" marT="22860" marB="22860" anchor="ctr">
                    <a:solidFill>
                      <a:srgbClr val="EEF2F9"/>
                    </a:solidFill>
                  </a:tcPr>
                </a:tc>
                <a:tc>
                  <a:txBody>
                    <a:bodyPr wrap="square"/>
                    <a:lstStyle/>
                    <a:p>
                      <a:r>
                        <a:rPr sz="950" b="0">
                          <a:solidFill>
                            <a:srgbClr val="1F2937"/>
                          </a:solidFill>
                          <a:latin typeface="Calibri"/>
                        </a:rPr>
                        <a:t>No</a:t>
                      </a:r>
                    </a:p>
                  </a:txBody>
                  <a:tcPr marL="54864" marR="54864" marT="22860" marB="22860" anchor="ctr">
                    <a:solidFill>
                      <a:srgbClr val="EEF2F9"/>
                    </a:solidFill>
                  </a:tcPr>
                </a:tc>
                <a:tc>
                  <a:txBody>
                    <a:bodyPr wrap="square"/>
                    <a:lstStyle/>
                    <a:p>
                      <a:r>
                        <a:rPr sz="950" b="0">
                          <a:solidFill>
                            <a:srgbClr val="1F2937"/>
                          </a:solidFill>
                          <a:latin typeface="Calibri"/>
                        </a:rPr>
                        <a:t>YesNo</a:t>
                      </a:r>
                    </a:p>
                  </a:txBody>
                  <a:tcPr marL="54864" marR="54864" marT="22860" marB="22860" anchor="ctr">
                    <a:solidFill>
                      <a:srgbClr val="EEF2F9"/>
                    </a:solidFill>
                  </a:tcPr>
                </a:tc>
                <a:tc>
                  <a:txBody>
                    <a:bodyPr wrap="square"/>
                    <a:lstStyle/>
                    <a:p>
                      <a:r>
                        <a:rPr sz="950" b="0">
                          <a:solidFill>
                            <a:srgbClr val="1F2937"/>
                          </a:solidFill>
                          <a:latin typeface="Calibri"/>
                        </a:rPr>
                        <a:t>Terrorism coverage = No</a:t>
                      </a:r>
                    </a:p>
                  </a:txBody>
                  <a:tcPr marL="54864" marR="54864" marT="22860" marB="22860" anchor="ctr">
                    <a:solidFill>
                      <a:srgbClr val="EEF2F9"/>
                    </a:solidFill>
                  </a:tcPr>
                </a:tc>
              </a:tr>
              <a:tr h="310896">
                <a:tc>
                  <a:txBody>
                    <a:bodyPr wrap="square"/>
                    <a:lstStyle/>
                    <a:p>
                      <a:r>
                        <a:rPr sz="950" b="0">
                          <a:solidFill>
                            <a:srgbClr val="1F2937"/>
                          </a:solidFill>
                          <a:latin typeface="Calibri"/>
                        </a:rPr>
                        <a:t>Exclude Acts Of Terrorism Committed Outside Of The US:</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No</a:t>
                      </a:r>
                    </a:p>
                  </a:txBody>
                  <a:tcPr marL="54864" marR="54864" marT="22860" marB="22860" anchor="ctr">
                    <a:solidFill>
                      <a:srgbClr val="FFFFFF"/>
                    </a:solidFill>
                  </a:tcPr>
                </a:tc>
                <a:tc>
                  <a:txBody>
                    <a:bodyPr wrap="square"/>
                    <a:lstStyle/>
                    <a:p>
                      <a:r>
                        <a:rPr sz="950" b="0">
                          <a:solidFill>
                            <a:srgbClr val="1F2937"/>
                          </a:solidFill>
                          <a:latin typeface="Calibri"/>
                        </a:rPr>
                        <a:t>YesNo</a:t>
                      </a:r>
                    </a:p>
                  </a:txBody>
                  <a:tcPr marL="54864" marR="54864" marT="22860" marB="22860" anchor="ctr">
                    <a:solidFill>
                      <a:srgbClr val="FFFFFF"/>
                    </a:solidFill>
                  </a:tcPr>
                </a:tc>
                <a:tc>
                  <a:txBody>
                    <a:bodyPr wrap="square"/>
                    <a:lstStyle/>
                    <a:p>
                      <a:r>
                        <a:rPr sz="950" b="0">
                          <a:solidFill>
                            <a:srgbClr val="1F2937"/>
                          </a:solidFill>
                          <a:latin typeface="Calibri"/>
                        </a:rPr>
                        <a:t>Terrorism = Yes, or No with specific limits = No</a:t>
                      </a:r>
                    </a:p>
                  </a:txBody>
                  <a:tcPr marL="54864" marR="54864" marT="22860" marB="22860" anchor="ctr">
                    <a:solidFill>
                      <a:srgbClr val="FFFFFF"/>
                    </a:solidFill>
                  </a:tcPr>
                </a:tc>
              </a:tr>
              <a:tr h="310896">
                <a:tc>
                  <a:txBody>
                    <a:bodyPr wrap="square"/>
                    <a:lstStyle/>
                    <a:p>
                      <a:r>
                        <a:rPr sz="950" b="0">
                          <a:solidFill>
                            <a:srgbClr val="1F2937"/>
                          </a:solidFill>
                          <a:latin typeface="Calibri"/>
                        </a:rPr>
                        <a:t>Exclude Punitive Damages Related To Certified Act Of Terrorism:</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No</a:t>
                      </a:r>
                    </a:p>
                  </a:txBody>
                  <a:tcPr marL="54864" marR="54864" marT="22860" marB="22860" anchor="ctr">
                    <a:solidFill>
                      <a:srgbClr val="EEF2F9"/>
                    </a:solidFill>
                  </a:tcPr>
                </a:tc>
                <a:tc>
                  <a:txBody>
                    <a:bodyPr wrap="square"/>
                    <a:lstStyle/>
                    <a:p>
                      <a:r>
                        <a:rPr sz="950" b="0">
                          <a:solidFill>
                            <a:srgbClr val="1F2937"/>
                          </a:solidFill>
                          <a:latin typeface="Calibri"/>
                        </a:rPr>
                        <a:t>No</a:t>
                      </a:r>
                    </a:p>
                  </a:txBody>
                  <a:tcPr marL="54864" marR="54864" marT="22860" marB="22860" anchor="ctr">
                    <a:solidFill>
                      <a:srgbClr val="EEF2F9"/>
                    </a:solidFill>
                  </a:tcPr>
                </a:tc>
                <a:tc>
                  <a:txBody>
                    <a:bodyPr wrap="square"/>
                    <a:lstStyle/>
                    <a:p>
                      <a:r>
                        <a:rPr sz="950" b="0">
                          <a:solidFill>
                            <a:srgbClr val="1F2937"/>
                          </a:solidFill>
                          <a:latin typeface="Calibri"/>
                        </a:rPr>
                        <a:t>YesNo</a:t>
                      </a:r>
                    </a:p>
                  </a:txBody>
                  <a:tcPr marL="54864" marR="54864" marT="22860" marB="22860" anchor="ctr">
                    <a:solidFill>
                      <a:srgbClr val="EEF2F9"/>
                    </a:solidFill>
                  </a:tcPr>
                </a:tc>
                <a:tc>
                  <a:txBody>
                    <a:bodyPr wrap="square"/>
                    <a:lstStyle/>
                    <a:p>
                      <a:r>
                        <a:rPr sz="950" b="0">
                          <a:solidFill>
                            <a:srgbClr val="1F2937"/>
                          </a:solidFill>
                          <a:latin typeface="Calibri"/>
                        </a:rPr>
                        <a:t>Terrorism = Yes, or No with specific limits = Yes</a:t>
                      </a:r>
                    </a:p>
                  </a:txBody>
                  <a:tcPr marL="54864" marR="54864" marT="22860" marB="22860" anchor="ctr">
                    <a:solidFill>
                      <a:srgbClr val="EEF2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Policy Fields — Premium Rows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11</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Fields sheet, page 'Policy Detail'; Comment column = 'Header'</a:t>
            </a:r>
          </a:p>
        </p:txBody>
      </p:sp>
      <p:graphicFrame>
        <p:nvGraphicFramePr>
          <p:cNvPr id="8" name="Table 7"/>
          <p:cNvGraphicFramePr>
            <a:graphicFrameLocks noGrp="1"/>
          </p:cNvGraphicFramePr>
          <p:nvPr/>
        </p:nvGraphicFramePr>
        <p:xfrm>
          <a:off x="457200" y="1188720"/>
          <a:ext cx="11292840" cy="2542032"/>
        </p:xfrm>
        <a:graphic>
          <a:graphicData uri="http://schemas.openxmlformats.org/drawingml/2006/table">
            <a:tbl>
              <a:tblPr firstRow="1" bandRow="1">
                <a:tableStyleId>{5C22544A-7EE6-4342-B048-85BDC9FD1C3A}</a:tableStyleId>
              </a:tblPr>
              <a:tblGrid>
                <a:gridCol w="4754880"/>
                <a:gridCol w="914400"/>
                <a:gridCol w="2926080"/>
                <a:gridCol w="2697480"/>
              </a:tblGrid>
              <a:tr h="347472">
                <a:tc>
                  <a:txBody>
                    <a:bodyPr wrap="square"/>
                    <a:lstStyle/>
                    <a:p>
                      <a:r>
                        <a:rPr sz="1200" b="1">
                          <a:solidFill>
                            <a:srgbClr val="FFFFFF"/>
                          </a:solidFill>
                          <a:latin typeface="Calibri"/>
                        </a:rPr>
                        <a:t>Row</a:t>
                      </a:r>
                    </a:p>
                  </a:txBody>
                  <a:tcPr marL="54864" marR="54864" marT="22860" marB="22860" anchor="ctr">
                    <a:solidFill>
                      <a:srgbClr val="0B3B7A"/>
                    </a:solidFill>
                  </a:tcPr>
                </a:tc>
                <a:tc>
                  <a:txBody>
                    <a:bodyPr wrap="square"/>
                    <a:lstStyle/>
                    <a:p>
                      <a:r>
                        <a:rPr sz="1200" b="1">
                          <a:solidFill>
                            <a:srgbClr val="FFFFFF"/>
                          </a:solidFill>
                          <a:latin typeface="Calibri"/>
                        </a:rPr>
                        <a:t>Count</a:t>
                      </a:r>
                    </a:p>
                  </a:txBody>
                  <a:tcPr marL="54864" marR="54864" marT="22860" marB="22860" anchor="ctr">
                    <a:solidFill>
                      <a:srgbClr val="0B3B7A"/>
                    </a:solidFill>
                  </a:tcPr>
                </a:tc>
                <a:tc>
                  <a:txBody>
                    <a:bodyPr wrap="square"/>
                    <a:lstStyle/>
                    <a:p>
                      <a:r>
                        <a:rPr sz="1200" b="1">
                          <a:solidFill>
                            <a:srgbClr val="FFFFFF"/>
                          </a:solidFill>
                          <a:latin typeface="Calibri"/>
                        </a:rPr>
                        <a:t>Shown as</a:t>
                      </a:r>
                    </a:p>
                  </a:txBody>
                  <a:tcPr marL="54864" marR="54864" marT="22860" marB="22860" anchor="ctr">
                    <a:solidFill>
                      <a:srgbClr val="0B3B7A"/>
                    </a:solidFill>
                  </a:tcPr>
                </a:tc>
                <a:tc>
                  <a:txBody>
                    <a:bodyPr wrap="square"/>
                    <a:lstStyle/>
                    <a:p>
                      <a:r>
                        <a:rPr sz="1200" b="1">
                          <a:solidFill>
                            <a:srgbClr val="FFFFFF"/>
                          </a:solidFill>
                          <a:latin typeface="Calibri"/>
                        </a:rPr>
                        <a:t>Shown when</a:t>
                      </a:r>
                    </a:p>
                  </a:txBody>
                  <a:tcPr marL="54864" marR="54864" marT="22860" marB="22860" anchor="ctr">
                    <a:solidFill>
                      <a:srgbClr val="0B3B7A"/>
                    </a:solidFill>
                  </a:tcPr>
                </a:tc>
              </a:tr>
              <a:tr h="731520">
                <a:tc>
                  <a:txBody>
                    <a:bodyPr wrap="square"/>
                    <a:lstStyle/>
                    <a:p>
                      <a:r>
                        <a:rPr sz="1200" b="0">
                          <a:solidFill>
                            <a:srgbClr val="1F2937"/>
                          </a:solidFill>
                          <a:latin typeface="Calibri"/>
                        </a:rPr>
                        <a:t>Commercial Umbrella Premium 1st to 5th Million (heading + Premium)</a:t>
                      </a:r>
                    </a:p>
                  </a:txBody>
                  <a:tcPr marL="54864" marR="54864" marT="22860" marB="22860" anchor="ctr">
                    <a:solidFill>
                      <a:srgbClr val="FFFFFF"/>
                    </a:solidFill>
                  </a:tcPr>
                </a:tc>
                <a:tc>
                  <a:txBody>
                    <a:bodyPr wrap="square"/>
                    <a:lstStyle/>
                    <a:p>
                      <a:r>
                        <a:rPr sz="1200" b="0">
                          <a:solidFill>
                            <a:srgbClr val="1F2937"/>
                          </a:solidFill>
                          <a:latin typeface="Calibri"/>
                        </a:rPr>
                        <a:t>10</a:t>
                      </a:r>
                    </a:p>
                  </a:txBody>
                  <a:tcPr marL="54864" marR="54864" marT="22860" marB="22860" anchor="ctr">
                    <a:solidFill>
                      <a:srgbClr val="FFFFFF"/>
                    </a:solidFill>
                  </a:tcPr>
                </a:tc>
                <a:tc>
                  <a:txBody>
                    <a:bodyPr wrap="square"/>
                    <a:lstStyle/>
                    <a:p>
                      <a:r>
                        <a:rPr sz="1200" b="0">
                          <a:solidFill>
                            <a:srgbClr val="1F2937"/>
                          </a:solidFill>
                          <a:latin typeface="Calibri"/>
                        </a:rPr>
                        <a:t>Heading, then a read-only Premium line</a:t>
                      </a:r>
                    </a:p>
                  </a:txBody>
                  <a:tcPr marL="54864" marR="54864" marT="22860" marB="22860" anchor="ctr">
                    <a:solidFill>
                      <a:srgbClr val="FFFFFF"/>
                    </a:solidFill>
                  </a:tcPr>
                </a:tc>
                <a:tc>
                  <a:txBody>
                    <a:bodyPr wrap="square"/>
                    <a:lstStyle/>
                    <a:p>
                      <a:r>
                        <a:rPr sz="1200" b="0">
                          <a:solidFill>
                            <a:srgbClr val="1F2937"/>
                          </a:solidFill>
                          <a:latin typeface="Calibri"/>
                        </a:rPr>
                        <a:t>Umbrella form, or both forms</a:t>
                      </a:r>
                    </a:p>
                  </a:txBody>
                  <a:tcPr marL="54864" marR="54864" marT="22860" marB="22860" anchor="ctr">
                    <a:solidFill>
                      <a:srgbClr val="FFFFFF"/>
                    </a:solidFill>
                  </a:tcPr>
                </a:tc>
              </a:tr>
              <a:tr h="731520">
                <a:tc>
                  <a:txBody>
                    <a:bodyPr wrap="square"/>
                    <a:lstStyle/>
                    <a:p>
                      <a:r>
                        <a:rPr sz="1200" b="0">
                          <a:solidFill>
                            <a:srgbClr val="1F2937"/>
                          </a:solidFill>
                          <a:latin typeface="Calibri"/>
                        </a:rPr>
                        <a:t>Excess Liability Manual Premium</a:t>
                      </a:r>
                    </a:p>
                  </a:txBody>
                  <a:tcPr marL="54864" marR="54864" marT="22860" marB="22860" anchor="ctr">
                    <a:solidFill>
                      <a:srgbClr val="EEF2F9"/>
                    </a:solidFill>
                  </a:tcPr>
                </a:tc>
                <a:tc>
                  <a:txBody>
                    <a:bodyPr wrap="square"/>
                    <a:lstStyle/>
                    <a:p>
                      <a:r>
                        <a:rPr sz="1200" b="0">
                          <a:solidFill>
                            <a:srgbClr val="1F2937"/>
                          </a:solidFill>
                          <a:latin typeface="Calibri"/>
                        </a:rPr>
                        <a:t>1</a:t>
                      </a:r>
                    </a:p>
                  </a:txBody>
                  <a:tcPr marL="54864" marR="54864" marT="22860" marB="22860" anchor="ctr">
                    <a:solidFill>
                      <a:srgbClr val="EEF2F9"/>
                    </a:solidFill>
                  </a:tcPr>
                </a:tc>
                <a:tc>
                  <a:txBody>
                    <a:bodyPr wrap="square"/>
                    <a:lstStyle/>
                    <a:p>
                      <a:r>
                        <a:rPr sz="1200" b="0">
                          <a:solidFill>
                            <a:srgbClr val="1F2937"/>
                          </a:solidFill>
                          <a:latin typeface="Calibri"/>
                        </a:rPr>
                        <a:t>Entered amount, required</a:t>
                      </a:r>
                    </a:p>
                  </a:txBody>
                  <a:tcPr marL="54864" marR="54864" marT="22860" marB="22860" anchor="ctr">
                    <a:solidFill>
                      <a:srgbClr val="EEF2F9"/>
                    </a:solidFill>
                  </a:tcPr>
                </a:tc>
                <a:tc>
                  <a:txBody>
                    <a:bodyPr wrap="square"/>
                    <a:lstStyle/>
                    <a:p>
                      <a:r>
                        <a:rPr sz="1200" b="0">
                          <a:solidFill>
                            <a:srgbClr val="1F2937"/>
                          </a:solidFill>
                          <a:latin typeface="Calibri"/>
                        </a:rPr>
                        <a:t>Excess form, or both forms</a:t>
                      </a:r>
                    </a:p>
                  </a:txBody>
                  <a:tcPr marL="54864" marR="54864" marT="22860" marB="22860" anchor="ctr">
                    <a:solidFill>
                      <a:srgbClr val="EEF2F9"/>
                    </a:solidFill>
                  </a:tcPr>
                </a:tc>
              </a:tr>
              <a:tr h="731520">
                <a:tc>
                  <a:txBody>
                    <a:bodyPr wrap="square"/>
                    <a:lstStyle/>
                    <a:p>
                      <a:r>
                        <a:rPr sz="1200" b="0">
                          <a:solidFill>
                            <a:srgbClr val="1F2937"/>
                          </a:solidFill>
                          <a:latin typeface="Calibri"/>
                        </a:rPr>
                        <a:t>Excess Liability Premium</a:t>
                      </a:r>
                    </a:p>
                  </a:txBody>
                  <a:tcPr marL="54864" marR="54864" marT="22860" marB="22860" anchor="ctr">
                    <a:solidFill>
                      <a:srgbClr val="FFFFFF"/>
                    </a:solidFill>
                  </a:tcPr>
                </a:tc>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Read-only Premium line</a:t>
                      </a:r>
                    </a:p>
                  </a:txBody>
                  <a:tcPr marL="54864" marR="54864" marT="22860" marB="22860" anchor="ctr">
                    <a:solidFill>
                      <a:srgbClr val="FFFFFF"/>
                    </a:solidFill>
                  </a:tcPr>
                </a:tc>
                <a:tc>
                  <a:txBody>
                    <a:bodyPr wrap="square"/>
                    <a:lstStyle/>
                    <a:p>
                      <a:r>
                        <a:rPr sz="1200" b="0">
                          <a:solidFill>
                            <a:srgbClr val="1F2937"/>
                          </a:solidFill>
                          <a:latin typeface="Calibri"/>
                        </a:rPr>
                        <a:t>Excess form, or both forms</a:t>
                      </a:r>
                    </a:p>
                  </a:txBody>
                  <a:tcPr marL="54864" marR="54864" marT="22860" marB="22860" anchor="ctr">
                    <a:solidFill>
                      <a:srgbClr val="FFFFFF"/>
                    </a:solidFill>
                  </a:tcPr>
                </a:tc>
              </a:tr>
            </a:tbl>
          </a:graphicData>
        </a:graphic>
      </p:graphicFrame>
      <p:sp>
        <p:nvSpPr>
          <p:cNvPr id="9" name="TextBox 8"/>
          <p:cNvSpPr txBox="1"/>
          <p:nvPr/>
        </p:nvSpPr>
        <p:spPr>
          <a:xfrm>
            <a:off x="457200" y="4114800"/>
            <a:ext cx="11247120" cy="1097280"/>
          </a:xfrm>
          <a:prstGeom prst="rect">
            <a:avLst/>
          </a:prstGeom>
          <a:noFill/>
        </p:spPr>
        <p:txBody>
          <a:bodyPr wrap="square" anchor="t" lIns="45720" rIns="45720">
            <a:spAutoFit/>
          </a:bodyPr>
          <a:lstStyle/>
          <a:p>
            <a:pPr algn="l">
              <a:spcAft>
                <a:spcPts val="400"/>
              </a:spcAft>
            </a:pPr>
            <a:r>
              <a:rPr sz="1400" b="0" i="0">
                <a:solidFill>
                  <a:srgbClr val="1F2937"/>
                </a:solidFill>
                <a:latin typeface="Calibri"/>
              </a:rPr>
              <a:t>The five 'Million' headings are section headings, not entry fields (FRC Comment column says Header).</a:t>
            </a:r>
          </a:p>
          <a:p>
            <a:pPr algn="l">
              <a:spcAft>
                <a:spcPts val="400"/>
              </a:spcAft>
            </a:pPr>
            <a:r>
              <a:rPr sz="1400" b="0" i="0">
                <a:solidFill>
                  <a:srgbClr val="1F2937"/>
                </a:solidFill>
                <a:latin typeface="Calibri"/>
              </a:rPr>
              <a:t>Premium amounts are worked out by rating, which this prototype does not do, so they stay blank.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When a Field Shows or Is Required</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12</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Fields sheet: Condition, Required Condition and Display Controller columns</a:t>
            </a:r>
          </a:p>
        </p:txBody>
      </p:sp>
      <p:graphicFrame>
        <p:nvGraphicFramePr>
          <p:cNvPr id="8" name="Table 7"/>
          <p:cNvGraphicFramePr>
            <a:graphicFrameLocks noGrp="1"/>
          </p:cNvGraphicFramePr>
          <p:nvPr/>
        </p:nvGraphicFramePr>
        <p:xfrm>
          <a:off x="457200" y="1188720"/>
          <a:ext cx="11292840" cy="4315968"/>
        </p:xfrm>
        <a:graphic>
          <a:graphicData uri="http://schemas.openxmlformats.org/drawingml/2006/table">
            <a:tbl>
              <a:tblPr firstRow="1" bandRow="1">
                <a:tableStyleId>{5C22544A-7EE6-4342-B048-85BDC9FD1C3A}</a:tableStyleId>
              </a:tblPr>
              <a:tblGrid>
                <a:gridCol w="3840480"/>
                <a:gridCol w="7452360"/>
              </a:tblGrid>
              <a:tr h="347472">
                <a:tc>
                  <a:txBody>
                    <a:bodyPr wrap="square"/>
                    <a:lstStyle/>
                    <a:p>
                      <a:r>
                        <a:rPr sz="1100" b="1">
                          <a:solidFill>
                            <a:srgbClr val="FFFFFF"/>
                          </a:solidFill>
                          <a:latin typeface="Calibri"/>
                        </a:rPr>
                        <a:t>Rule</a:t>
                      </a:r>
                    </a:p>
                  </a:txBody>
                  <a:tcPr marL="54864" marR="54864" marT="22860" marB="22860" anchor="ctr">
                    <a:solidFill>
                      <a:srgbClr val="0B3B7A"/>
                    </a:solidFill>
                  </a:tcPr>
                </a:tc>
                <a:tc>
                  <a:txBody>
                    <a:bodyPr wrap="square"/>
                    <a:lstStyle/>
                    <a:p>
                      <a:r>
                        <a:rPr sz="1100" b="1">
                          <a:solidFill>
                            <a:srgbClr val="FFFFFF"/>
                          </a:solidFill>
                          <a:latin typeface="Calibri"/>
                        </a:rPr>
                        <a:t>Fields it controls</a:t>
                      </a:r>
                    </a:p>
                  </a:txBody>
                  <a:tcPr marL="54864" marR="54864" marT="22860" marB="22860" anchor="ctr">
                    <a:solidFill>
                      <a:srgbClr val="0B3B7A"/>
                    </a:solidFill>
                  </a:tcPr>
                </a:tc>
              </a:tr>
              <a:tr h="566928">
                <a:tc>
                  <a:txBody>
                    <a:bodyPr wrap="square"/>
                    <a:lstStyle/>
                    <a:p>
                      <a:r>
                        <a:rPr sz="1100" b="0">
                          <a:solidFill>
                            <a:srgbClr val="1F2937"/>
                          </a:solidFill>
                          <a:latin typeface="Calibri"/>
                        </a:rPr>
                        <a:t>Package policy only</a:t>
                      </a:r>
                    </a:p>
                  </a:txBody>
                  <a:tcPr marL="54864" marR="54864" marT="22860" marB="22860" anchor="ctr">
                    <a:solidFill>
                      <a:srgbClr val="FFFFFF"/>
                    </a:solidFill>
                  </a:tcPr>
                </a:tc>
                <a:tc>
                  <a:txBody>
                    <a:bodyPr wrap="square"/>
                    <a:lstStyle/>
                    <a:p>
                      <a:r>
                        <a:rPr sz="1100" b="0">
                          <a:solidFill>
                            <a:srgbClr val="1F2937"/>
                          </a:solidFill>
                          <a:latin typeface="Calibri"/>
                        </a:rPr>
                        <a:t>Risk Type</a:t>
                      </a:r>
                    </a:p>
                  </a:txBody>
                  <a:tcPr marL="54864" marR="54864" marT="22860" marB="22860" anchor="ctr">
                    <a:solidFill>
                      <a:srgbClr val="FFFFFF"/>
                    </a:solidFill>
                  </a:tcPr>
                </a:tc>
              </a:tr>
              <a:tr h="566928">
                <a:tc>
                  <a:txBody>
                    <a:bodyPr wrap="square"/>
                    <a:lstStyle/>
                    <a:p>
                      <a:r>
                        <a:rPr sz="1100" b="0">
                          <a:solidFill>
                            <a:srgbClr val="1F2937"/>
                          </a:solidFill>
                          <a:latin typeface="Calibri"/>
                        </a:rPr>
                        <a:t>Excess form, or both forms</a:t>
                      </a:r>
                    </a:p>
                  </a:txBody>
                  <a:tcPr marL="54864" marR="54864" marT="22860" marB="22860" anchor="ctr">
                    <a:solidFill>
                      <a:srgbClr val="EEF2F9"/>
                    </a:solidFill>
                  </a:tcPr>
                </a:tc>
                <a:tc>
                  <a:txBody>
                    <a:bodyPr wrap="square"/>
                    <a:lstStyle/>
                    <a:p>
                      <a:r>
                        <a:rPr sz="1100" b="0">
                          <a:solidFill>
                            <a:srgbClr val="1F2937"/>
                          </a:solidFill>
                          <a:latin typeface="Calibri"/>
                        </a:rPr>
                        <a:t>Excess Liability Limit, Excess Liability Self Insured Rete, Excess Liability Manual Premium, Premium</a:t>
                      </a:r>
                    </a:p>
                  </a:txBody>
                  <a:tcPr marL="54864" marR="54864" marT="22860" marB="22860" anchor="ctr">
                    <a:solidFill>
                      <a:srgbClr val="EEF2F9"/>
                    </a:solidFill>
                  </a:tcPr>
                </a:tc>
              </a:tr>
              <a:tr h="566928">
                <a:tc>
                  <a:txBody>
                    <a:bodyPr wrap="square"/>
                    <a:lstStyle/>
                    <a:p>
                      <a:r>
                        <a:rPr sz="1100" b="0">
                          <a:solidFill>
                            <a:srgbClr val="1F2937"/>
                          </a:solidFill>
                          <a:latin typeface="Calibri"/>
                        </a:rPr>
                        <a:t>Umbrella form, or both forms</a:t>
                      </a:r>
                    </a:p>
                  </a:txBody>
                  <a:tcPr marL="54864" marR="54864" marT="22860" marB="22860" anchor="ctr">
                    <a:solidFill>
                      <a:srgbClr val="FFFFFF"/>
                    </a:solidFill>
                  </a:tcPr>
                </a:tc>
                <a:tc>
                  <a:txBody>
                    <a:bodyPr wrap="square"/>
                    <a:lstStyle/>
                    <a:p>
                      <a:r>
                        <a:rPr sz="1100" b="0">
                          <a:solidFill>
                            <a:srgbClr val="1F2937"/>
                          </a:solidFill>
                          <a:latin typeface="Calibri"/>
                        </a:rPr>
                        <a:t>Umbrella Limit, Umbrella Self Insured Retention, Commercial Umbrella Premium 1st Mi, Premium, Commercial Umbrella Premium 2nd Mi, Premium, Commercial </a:t>
                      </a:r>
                    </a:p>
                  </a:txBody>
                  <a:tcPr marL="54864" marR="54864" marT="22860" marB="22860" anchor="ctr">
                    <a:solidFill>
                      <a:srgbClr val="FFFFFF"/>
                    </a:solidFill>
                  </a:tcPr>
                </a:tc>
              </a:tr>
              <a:tr h="566928">
                <a:tc>
                  <a:txBody>
                    <a:bodyPr wrap="square"/>
                    <a:lstStyle/>
                    <a:p>
                      <a:r>
                        <a:rPr sz="1100" b="0">
                          <a:solidFill>
                            <a:srgbClr val="1F2937"/>
                          </a:solidFill>
                          <a:latin typeface="Calibri"/>
                        </a:rPr>
                        <a:t>TRIP ends early = Yes</a:t>
                      </a:r>
                    </a:p>
                  </a:txBody>
                  <a:tcPr marL="54864" marR="54864" marT="22860" marB="22860" anchor="ctr">
                    <a:solidFill>
                      <a:srgbClr val="EEF2F9"/>
                    </a:solidFill>
                  </a:tcPr>
                </a:tc>
                <a:tc>
                  <a:txBody>
                    <a:bodyPr wrap="square"/>
                    <a:lstStyle/>
                    <a:p>
                      <a:r>
                        <a:rPr sz="1100" b="0">
                          <a:solidFill>
                            <a:srgbClr val="1F2937"/>
                          </a:solidFill>
                          <a:latin typeface="Calibri"/>
                        </a:rPr>
                        <a:t>Has TRIA been extended past termin, Enter current TRIA expiration date</a:t>
                      </a:r>
                    </a:p>
                  </a:txBody>
                  <a:tcPr marL="54864" marR="54864" marT="22860" marB="22860" anchor="ctr">
                    <a:solidFill>
                      <a:srgbClr val="EEF2F9"/>
                    </a:solidFill>
                  </a:tcPr>
                </a:tc>
              </a:tr>
              <a:tr h="566928">
                <a:tc>
                  <a:txBody>
                    <a:bodyPr wrap="square"/>
                    <a:lstStyle/>
                    <a:p>
                      <a:r>
                        <a:rPr sz="1100" b="0">
                          <a:solidFill>
                            <a:srgbClr val="1F2937"/>
                          </a:solidFill>
                          <a:latin typeface="Calibri"/>
                        </a:rPr>
                        <a:t>Terrorism = Yes, or No with specific limits = No</a:t>
                      </a:r>
                    </a:p>
                  </a:txBody>
                  <a:tcPr marL="54864" marR="54864" marT="22860" marB="22860" anchor="ctr">
                    <a:solidFill>
                      <a:srgbClr val="FFFFFF"/>
                    </a:solidFill>
                  </a:tcPr>
                </a:tc>
                <a:tc>
                  <a:txBody>
                    <a:bodyPr wrap="square"/>
                    <a:lstStyle/>
                    <a:p>
                      <a:r>
                        <a:rPr sz="1100" b="0">
                          <a:solidFill>
                            <a:srgbClr val="1F2937"/>
                          </a:solidFill>
                          <a:latin typeface="Calibri"/>
                        </a:rPr>
                        <a:t>Exclude Acts Of Terrorism Committe</a:t>
                      </a:r>
                    </a:p>
                  </a:txBody>
                  <a:tcPr marL="54864" marR="54864" marT="22860" marB="22860" anchor="ctr">
                    <a:solidFill>
                      <a:srgbClr val="FFFFFF"/>
                    </a:solidFill>
                  </a:tcPr>
                </a:tc>
              </a:tr>
              <a:tr h="566928">
                <a:tc>
                  <a:txBody>
                    <a:bodyPr wrap="square"/>
                    <a:lstStyle/>
                    <a:p>
                      <a:r>
                        <a:rPr sz="1100" b="0">
                          <a:solidFill>
                            <a:srgbClr val="1F2937"/>
                          </a:solidFill>
                          <a:latin typeface="Calibri"/>
                        </a:rPr>
                        <a:t>Terrorism = Yes, or No with specific limits = Yes</a:t>
                      </a:r>
                    </a:p>
                  </a:txBody>
                  <a:tcPr marL="54864" marR="54864" marT="22860" marB="22860" anchor="ctr">
                    <a:solidFill>
                      <a:srgbClr val="EEF2F9"/>
                    </a:solidFill>
                  </a:tcPr>
                </a:tc>
                <a:tc>
                  <a:txBody>
                    <a:bodyPr wrap="square"/>
                    <a:lstStyle/>
                    <a:p>
                      <a:r>
                        <a:rPr sz="1100" b="0">
                          <a:solidFill>
                            <a:srgbClr val="1F2937"/>
                          </a:solidFill>
                          <a:latin typeface="Calibri"/>
                        </a:rPr>
                        <a:t>Exclude Punitive Damages Related T</a:t>
                      </a:r>
                    </a:p>
                  </a:txBody>
                  <a:tcPr marL="54864" marR="54864" marT="22860" marB="22860" anchor="ctr">
                    <a:solidFill>
                      <a:srgbClr val="EEF2F9"/>
                    </a:solidFill>
                  </a:tcPr>
                </a:tc>
              </a:tr>
              <a:tr h="566928">
                <a:tc>
                  <a:txBody>
                    <a:bodyPr wrap="square"/>
                    <a:lstStyle/>
                    <a:p>
                      <a:r>
                        <a:rPr sz="1100" b="0">
                          <a:solidFill>
                            <a:srgbClr val="1F2937"/>
                          </a:solidFill>
                          <a:latin typeface="Calibri"/>
                        </a:rPr>
                        <a:t>Terrorism coverage = No</a:t>
                      </a:r>
                    </a:p>
                  </a:txBody>
                  <a:tcPr marL="54864" marR="54864" marT="22860" marB="22860" anchor="ctr">
                    <a:solidFill>
                      <a:srgbClr val="FFFFFF"/>
                    </a:solidFill>
                  </a:tcPr>
                </a:tc>
                <a:tc>
                  <a:txBody>
                    <a:bodyPr wrap="square"/>
                    <a:lstStyle/>
                    <a:p>
                      <a:r>
                        <a:rPr sz="1100" b="0">
                          <a:solidFill>
                            <a:srgbClr val="1F2937"/>
                          </a:solidFill>
                          <a:latin typeface="Calibri"/>
                        </a:rPr>
                        <a:t>Accept Certified Acts Terrorism Co</a:t>
                      </a:r>
                    </a:p>
                  </a:txBody>
                  <a:tcPr marL="54864" marR="54864" marT="22860" marB="22860" anchor="ctr">
                    <a:solidFill>
                      <a:srgbClr val="FFFFFF"/>
                    </a:solidFill>
                  </a:tcPr>
                </a:tc>
              </a:tr>
            </a:tbl>
          </a:graphicData>
        </a:graphic>
      </p:graphicFrame>
      <p:sp>
        <p:nvSpPr>
          <p:cNvPr id="9" name="TextBox 8"/>
          <p:cNvSpPr txBox="1"/>
          <p:nvPr/>
        </p:nvSpPr>
        <p:spPr>
          <a:xfrm>
            <a:off x="457200" y="5486400"/>
            <a:ext cx="11247120" cy="548640"/>
          </a:xfrm>
          <a:prstGeom prst="rect">
            <a:avLst/>
          </a:prstGeom>
          <a:noFill/>
        </p:spPr>
        <p:txBody>
          <a:bodyPr wrap="square" anchor="t" lIns="45720" rIns="45720">
            <a:spAutoFit/>
          </a:bodyPr>
          <a:lstStyle/>
          <a:p>
            <a:pPr algn="l">
              <a:spcAft>
                <a:spcPts val="400"/>
              </a:spcAft>
            </a:pPr>
            <a:r>
              <a:rPr sz="1200" b="0" i="0">
                <a:solidFill>
                  <a:srgbClr val="6B7280"/>
                </a:solidFill>
                <a:latin typeface="Calibri"/>
              </a:rPr>
              <a:t>Fields that change what else shows (Display Controller = Yes): 7. Two also trigger re-rating when changed: Policy Coverage Form and Accept Certified Acts of Terrorism.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Underlying Insurance — Nine Groups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13</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sheet (Sequence, Max Occurs); FRC Page Fields sheet (field counts)</a:t>
            </a:r>
          </a:p>
        </p:txBody>
      </p:sp>
      <p:graphicFrame>
        <p:nvGraphicFramePr>
          <p:cNvPr id="8" name="Table 7"/>
          <p:cNvGraphicFramePr>
            <a:graphicFrameLocks noGrp="1"/>
          </p:cNvGraphicFramePr>
          <p:nvPr/>
        </p:nvGraphicFramePr>
        <p:xfrm>
          <a:off x="457200" y="1188720"/>
          <a:ext cx="11292840" cy="4133088"/>
        </p:xfrm>
        <a:graphic>
          <a:graphicData uri="http://schemas.openxmlformats.org/drawingml/2006/table">
            <a:tbl>
              <a:tblPr firstRow="1" bandRow="1">
                <a:tableStyleId>{5C22544A-7EE6-4342-B048-85BDC9FD1C3A}</a:tableStyleId>
              </a:tblPr>
              <a:tblGrid>
                <a:gridCol w="731520"/>
                <a:gridCol w="2743200"/>
                <a:gridCol w="1371600"/>
                <a:gridCol w="1463040"/>
                <a:gridCol w="1463040"/>
                <a:gridCol w="3520440"/>
              </a:tblGrid>
              <a:tr h="347472">
                <a:tc>
                  <a:txBody>
                    <a:bodyPr wrap="square"/>
                    <a:lstStyle/>
                    <a:p>
                      <a:r>
                        <a:rPr sz="1200" b="1">
                          <a:solidFill>
                            <a:srgbClr val="FFFFFF"/>
                          </a:solidFill>
                          <a:latin typeface="Calibri"/>
                        </a:rPr>
                        <a:t>Order</a:t>
                      </a:r>
                    </a:p>
                  </a:txBody>
                  <a:tcPr marL="54864" marR="54864" marT="22860" marB="22860" anchor="ctr">
                    <a:solidFill>
                      <a:srgbClr val="0B3B7A"/>
                    </a:solidFill>
                  </a:tcPr>
                </a:tc>
                <a:tc>
                  <a:txBody>
                    <a:bodyPr wrap="square"/>
                    <a:lstStyle/>
                    <a:p>
                      <a:r>
                        <a:rPr sz="1200" b="1">
                          <a:solidFill>
                            <a:srgbClr val="FFFFFF"/>
                          </a:solidFill>
                          <a:latin typeface="Calibri"/>
                        </a:rPr>
                        <a:t>Group (FRC page)</a:t>
                      </a:r>
                    </a:p>
                  </a:txBody>
                  <a:tcPr marL="54864" marR="54864" marT="22860" marB="22860" anchor="ctr">
                    <a:solidFill>
                      <a:srgbClr val="0B3B7A"/>
                    </a:solidFill>
                  </a:tcPr>
                </a:tc>
                <a:tc>
                  <a:txBody>
                    <a:bodyPr wrap="square"/>
                    <a:lstStyle/>
                    <a:p>
                      <a:r>
                        <a:rPr sz="1200" b="1">
                          <a:solidFill>
                            <a:srgbClr val="FFFFFF"/>
                          </a:solidFill>
                          <a:latin typeface="Calibri"/>
                        </a:rPr>
                        <a:t>FRC sequence</a:t>
                      </a:r>
                    </a:p>
                  </a:txBody>
                  <a:tcPr marL="54864" marR="54864" marT="22860" marB="22860" anchor="ctr">
                    <a:solidFill>
                      <a:srgbClr val="0B3B7A"/>
                    </a:solidFill>
                  </a:tcPr>
                </a:tc>
                <a:tc>
                  <a:txBody>
                    <a:bodyPr wrap="square"/>
                    <a:lstStyle/>
                    <a:p>
                      <a:r>
                        <a:rPr sz="1200" b="1">
                          <a:solidFill>
                            <a:srgbClr val="FFFFFF"/>
                          </a:solidFill>
                          <a:latin typeface="Calibri"/>
                        </a:rPr>
                        <a:t>Rows allowed</a:t>
                      </a:r>
                    </a:p>
                  </a:txBody>
                  <a:tcPr marL="54864" marR="54864" marT="22860" marB="22860" anchor="ctr">
                    <a:solidFill>
                      <a:srgbClr val="0B3B7A"/>
                    </a:solidFill>
                  </a:tcPr>
                </a:tc>
                <a:tc>
                  <a:txBody>
                    <a:bodyPr wrap="square"/>
                    <a:lstStyle/>
                    <a:p>
                      <a:r>
                        <a:rPr sz="1200" b="1">
                          <a:solidFill>
                            <a:srgbClr val="FFFFFF"/>
                          </a:solidFill>
                          <a:latin typeface="Calibri"/>
                        </a:rPr>
                        <a:t>Table columns</a:t>
                      </a:r>
                    </a:p>
                  </a:txBody>
                  <a:tcPr marL="54864" marR="54864" marT="22860" marB="22860" anchor="ctr">
                    <a:solidFill>
                      <a:srgbClr val="0B3B7A"/>
                    </a:solidFill>
                  </a:tcPr>
                </a:tc>
                <a:tc>
                  <a:txBody>
                    <a:bodyPr wrap="square"/>
                    <a:lstStyle/>
                    <a:p>
                      <a:r>
                        <a:rPr sz="1200" b="1">
                          <a:solidFill>
                            <a:srgbClr val="FFFFFF"/>
                          </a:solidFill>
                          <a:latin typeface="Calibri"/>
                        </a:rPr>
                        <a:t>Detail fields (FRC page)</a:t>
                      </a:r>
                    </a:p>
                  </a:txBody>
                  <a:tcPr marL="54864" marR="54864" marT="22860" marB="22860" anchor="ctr">
                    <a:solidFill>
                      <a:srgbClr val="0B3B7A"/>
                    </a:solidFill>
                  </a:tcPr>
                </a:tc>
              </a:tr>
              <a:tr h="420624">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Aircraft Liability</a:t>
                      </a:r>
                    </a:p>
                  </a:txBody>
                  <a:tcPr marL="54864" marR="54864" marT="22860" marB="22860" anchor="ctr">
                    <a:solidFill>
                      <a:srgbClr val="FFFFFF"/>
                    </a:solidFill>
                  </a:tcPr>
                </a:tc>
                <a:tc>
                  <a:txBody>
                    <a:bodyPr wrap="square"/>
                    <a:lstStyle/>
                    <a:p>
                      <a:r>
                        <a:rPr sz="1200" b="0">
                          <a:solidFill>
                            <a:srgbClr val="1F2937"/>
                          </a:solidFill>
                          <a:latin typeface="Calibri"/>
                        </a:rPr>
                        <a:t>10000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7 ('Aircraft Liability Detail')</a:t>
                      </a:r>
                    </a:p>
                  </a:txBody>
                  <a:tcPr marL="54864" marR="54864" marT="22860" marB="22860" anchor="ctr">
                    <a:solidFill>
                      <a:srgbClr val="FFFFFF"/>
                    </a:solidFill>
                  </a:tcPr>
                </a:tc>
              </a:tr>
              <a:tr h="420624">
                <a:tc>
                  <a:txBody>
                    <a:bodyPr wrap="square"/>
                    <a:lstStyle/>
                    <a:p>
                      <a:r>
                        <a:rPr sz="1200" b="0">
                          <a:solidFill>
                            <a:srgbClr val="1F2937"/>
                          </a:solidFill>
                          <a:latin typeface="Calibri"/>
                        </a:rPr>
                        <a:t>2</a:t>
                      </a:r>
                    </a:p>
                  </a:txBody>
                  <a:tcPr marL="54864" marR="54864" marT="22860" marB="22860" anchor="ctr">
                    <a:solidFill>
                      <a:srgbClr val="EEF2F9"/>
                    </a:solidFill>
                  </a:tcPr>
                </a:tc>
                <a:tc>
                  <a:txBody>
                    <a:bodyPr wrap="square"/>
                    <a:lstStyle/>
                    <a:p>
                      <a:r>
                        <a:rPr sz="1200" b="0">
                          <a:solidFill>
                            <a:srgbClr val="1F2937"/>
                          </a:solidFill>
                          <a:latin typeface="Calibri"/>
                        </a:rPr>
                        <a:t>BOP</a:t>
                      </a:r>
                    </a:p>
                  </a:txBody>
                  <a:tcPr marL="54864" marR="54864" marT="22860" marB="22860" anchor="ctr">
                    <a:solidFill>
                      <a:srgbClr val="EEF2F9"/>
                    </a:solidFill>
                  </a:tcPr>
                </a:tc>
                <a:tc>
                  <a:txBody>
                    <a:bodyPr wrap="square"/>
                    <a:lstStyle/>
                    <a:p>
                      <a:r>
                        <a:rPr sz="1200" b="0">
                          <a:solidFill>
                            <a:srgbClr val="1F2937"/>
                          </a:solidFill>
                          <a:latin typeface="Calibri"/>
                        </a:rPr>
                        <a:t>11000</a:t>
                      </a:r>
                    </a:p>
                  </a:txBody>
                  <a:tcPr marL="54864" marR="54864" marT="22860" marB="22860" anchor="ctr">
                    <a:solidFill>
                      <a:srgbClr val="EEF2F9"/>
                    </a:solidFill>
                  </a:tcPr>
                </a:tc>
                <a:tc>
                  <a:txBody>
                    <a:bodyPr wrap="square"/>
                    <a:lstStyle/>
                    <a:p>
                      <a:r>
                        <a:rPr sz="1200" b="0">
                          <a:solidFill>
                            <a:srgbClr val="1F2937"/>
                          </a:solidFill>
                          <a:latin typeface="Calibri"/>
                        </a:rPr>
                        <a:t>Many</a:t>
                      </a:r>
                    </a:p>
                  </a:txBody>
                  <a:tcPr marL="54864" marR="54864" marT="22860" marB="22860" anchor="ctr">
                    <a:solidFill>
                      <a:srgbClr val="EEF2F9"/>
                    </a:solidFill>
                  </a:tcPr>
                </a:tc>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9 ('BOP Detail')</a:t>
                      </a:r>
                    </a:p>
                  </a:txBody>
                  <a:tcPr marL="54864" marR="54864" marT="22860" marB="22860" anchor="ctr">
                    <a:solidFill>
                      <a:srgbClr val="EEF2F9"/>
                    </a:solidFill>
                  </a:tcPr>
                </a:tc>
              </a:tr>
              <a:tr h="420624">
                <a:tc>
                  <a:txBody>
                    <a:bodyPr wrap="square"/>
                    <a:lstStyle/>
                    <a:p>
                      <a:r>
                        <a:rPr sz="1200" b="0">
                          <a:solidFill>
                            <a:srgbClr val="1F2937"/>
                          </a:solidFill>
                          <a:latin typeface="Calibri"/>
                        </a:rPr>
                        <a:t>3</a:t>
                      </a:r>
                    </a:p>
                  </a:txBody>
                  <a:tcPr marL="54864" marR="54864" marT="22860" marB="22860" anchor="ctr">
                    <a:solidFill>
                      <a:srgbClr val="FFFFFF"/>
                    </a:solidFill>
                  </a:tcPr>
                </a:tc>
                <a:tc>
                  <a:txBody>
                    <a:bodyPr wrap="square"/>
                    <a:lstStyle/>
                    <a:p>
                      <a:r>
                        <a:rPr sz="1200" b="0">
                          <a:solidFill>
                            <a:srgbClr val="1F2937"/>
                          </a:solidFill>
                          <a:latin typeface="Calibri"/>
                        </a:rPr>
                        <a:t>Commercial Auto</a:t>
                      </a:r>
                    </a:p>
                  </a:txBody>
                  <a:tcPr marL="54864" marR="54864" marT="22860" marB="22860" anchor="ctr">
                    <a:solidFill>
                      <a:srgbClr val="FFFFFF"/>
                    </a:solidFill>
                  </a:tcPr>
                </a:tc>
                <a:tc>
                  <a:txBody>
                    <a:bodyPr wrap="square"/>
                    <a:lstStyle/>
                    <a:p>
                      <a:r>
                        <a:rPr sz="1200" b="0">
                          <a:solidFill>
                            <a:srgbClr val="1F2937"/>
                          </a:solidFill>
                          <a:latin typeface="Calibri"/>
                        </a:rPr>
                        <a:t>12000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27 ('Commercial Auto Detail')</a:t>
                      </a:r>
                    </a:p>
                  </a:txBody>
                  <a:tcPr marL="54864" marR="54864" marT="22860" marB="22860" anchor="ctr">
                    <a:solidFill>
                      <a:srgbClr val="FFFFFF"/>
                    </a:solidFill>
                  </a:tcPr>
                </a:tc>
              </a:tr>
              <a:tr h="420624">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Auto Dealers</a:t>
                      </a:r>
                    </a:p>
                  </a:txBody>
                  <a:tcPr marL="54864" marR="54864" marT="22860" marB="22860" anchor="ctr">
                    <a:solidFill>
                      <a:srgbClr val="EEF2F9"/>
                    </a:solidFill>
                  </a:tcPr>
                </a:tc>
                <a:tc>
                  <a:txBody>
                    <a:bodyPr wrap="square"/>
                    <a:lstStyle/>
                    <a:p>
                      <a:r>
                        <a:rPr sz="1200" b="0">
                          <a:solidFill>
                            <a:srgbClr val="1F2937"/>
                          </a:solidFill>
                          <a:latin typeface="Calibri"/>
                        </a:rPr>
                        <a:t>13000</a:t>
                      </a:r>
                    </a:p>
                  </a:txBody>
                  <a:tcPr marL="54864" marR="54864" marT="22860" marB="22860" anchor="ctr">
                    <a:solidFill>
                      <a:srgbClr val="EEF2F9"/>
                    </a:solidFill>
                  </a:tcPr>
                </a:tc>
                <a:tc>
                  <a:txBody>
                    <a:bodyPr wrap="square"/>
                    <a:lstStyle/>
                    <a:p>
                      <a:r>
                        <a:rPr sz="1200" b="0">
                          <a:solidFill>
                            <a:srgbClr val="1F2937"/>
                          </a:solidFill>
                          <a:latin typeface="Calibri"/>
                        </a:rPr>
                        <a:t>1 row</a:t>
                      </a:r>
                    </a:p>
                  </a:txBody>
                  <a:tcPr marL="54864" marR="54864" marT="22860" marB="22860" anchor="ctr">
                    <a:solidFill>
                      <a:srgbClr val="EEF2F9"/>
                    </a:solidFill>
                  </a:tcPr>
                </a:tc>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10 ('Auto Dealers Detail')</a:t>
                      </a:r>
                    </a:p>
                  </a:txBody>
                  <a:tcPr marL="54864" marR="54864" marT="22860" marB="22860" anchor="ctr">
                    <a:solidFill>
                      <a:srgbClr val="EEF2F9"/>
                    </a:solidFill>
                  </a:tcPr>
                </a:tc>
              </a:tr>
              <a:tr h="420624">
                <a:tc>
                  <a:txBody>
                    <a:bodyPr wrap="square"/>
                    <a:lstStyle/>
                    <a:p>
                      <a:r>
                        <a:rPr sz="1200" b="0">
                          <a:solidFill>
                            <a:srgbClr val="1F2937"/>
                          </a:solidFill>
                          <a:latin typeface="Calibri"/>
                        </a:rPr>
                        <a:t>5</a:t>
                      </a:r>
                    </a:p>
                  </a:txBody>
                  <a:tcPr marL="54864" marR="54864" marT="22860" marB="22860" anchor="ctr">
                    <a:solidFill>
                      <a:srgbClr val="FFFFFF"/>
                    </a:solidFill>
                  </a:tcPr>
                </a:tc>
                <a:tc>
                  <a:txBody>
                    <a:bodyPr wrap="square"/>
                    <a:lstStyle/>
                    <a:p>
                      <a:r>
                        <a:rPr sz="1200" b="0">
                          <a:solidFill>
                            <a:srgbClr val="1F2937"/>
                          </a:solidFill>
                          <a:latin typeface="Calibri"/>
                        </a:rPr>
                        <a:t>General Liability</a:t>
                      </a:r>
                    </a:p>
                  </a:txBody>
                  <a:tcPr marL="54864" marR="54864" marT="22860" marB="22860" anchor="ctr">
                    <a:solidFill>
                      <a:srgbClr val="FFFFFF"/>
                    </a:solidFill>
                  </a:tcPr>
                </a:tc>
                <a:tc>
                  <a:txBody>
                    <a:bodyPr wrap="square"/>
                    <a:lstStyle/>
                    <a:p>
                      <a:r>
                        <a:rPr sz="1200" b="0">
                          <a:solidFill>
                            <a:srgbClr val="1F2937"/>
                          </a:solidFill>
                          <a:latin typeface="Calibri"/>
                        </a:rPr>
                        <a:t>14000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20 ('General Liability Detail')</a:t>
                      </a:r>
                    </a:p>
                  </a:txBody>
                  <a:tcPr marL="54864" marR="54864" marT="22860" marB="22860" anchor="ctr">
                    <a:solidFill>
                      <a:srgbClr val="FFFFFF"/>
                    </a:solidFill>
                  </a:tcPr>
                </a:tc>
              </a:tr>
              <a:tr h="420624">
                <a:tc>
                  <a:txBody>
                    <a:bodyPr wrap="square"/>
                    <a:lstStyle/>
                    <a:p>
                      <a:r>
                        <a:rPr sz="1200" b="0">
                          <a:solidFill>
                            <a:srgbClr val="1F2937"/>
                          </a:solidFill>
                          <a:latin typeface="Calibri"/>
                        </a:rPr>
                        <a:t>6</a:t>
                      </a:r>
                    </a:p>
                  </a:txBody>
                  <a:tcPr marL="54864" marR="54864" marT="22860" marB="22860" anchor="ctr">
                    <a:solidFill>
                      <a:srgbClr val="EEF2F9"/>
                    </a:solidFill>
                  </a:tcPr>
                </a:tc>
                <a:tc>
                  <a:txBody>
                    <a:bodyPr wrap="square"/>
                    <a:lstStyle/>
                    <a:p>
                      <a:r>
                        <a:rPr sz="1200" b="0">
                          <a:solidFill>
                            <a:srgbClr val="1F2937"/>
                          </a:solidFill>
                          <a:latin typeface="Calibri"/>
                        </a:rPr>
                        <a:t>Employers Liability</a:t>
                      </a:r>
                    </a:p>
                  </a:txBody>
                  <a:tcPr marL="54864" marR="54864" marT="22860" marB="22860" anchor="ctr">
                    <a:solidFill>
                      <a:srgbClr val="EEF2F9"/>
                    </a:solidFill>
                  </a:tcPr>
                </a:tc>
                <a:tc>
                  <a:txBody>
                    <a:bodyPr wrap="square"/>
                    <a:lstStyle/>
                    <a:p>
                      <a:r>
                        <a:rPr sz="1200" b="0">
                          <a:solidFill>
                            <a:srgbClr val="1F2937"/>
                          </a:solidFill>
                          <a:latin typeface="Calibri"/>
                        </a:rPr>
                        <a:t>15000</a:t>
                      </a:r>
                    </a:p>
                  </a:txBody>
                  <a:tcPr marL="54864" marR="54864" marT="22860" marB="22860" anchor="ctr">
                    <a:solidFill>
                      <a:srgbClr val="EEF2F9"/>
                    </a:solidFill>
                  </a:tcPr>
                </a:tc>
                <a:tc>
                  <a:txBody>
                    <a:bodyPr wrap="square"/>
                    <a:lstStyle/>
                    <a:p>
                      <a:r>
                        <a:rPr sz="1200" b="0">
                          <a:solidFill>
                            <a:srgbClr val="1F2937"/>
                          </a:solidFill>
                          <a:latin typeface="Calibri"/>
                        </a:rPr>
                        <a:t>Many</a:t>
                      </a:r>
                    </a:p>
                  </a:txBody>
                  <a:tcPr marL="54864" marR="54864" marT="22860" marB="22860" anchor="ctr">
                    <a:solidFill>
                      <a:srgbClr val="EEF2F9"/>
                    </a:solidFill>
                  </a:tcPr>
                </a:tc>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9 ('Employers Liability Detail')</a:t>
                      </a:r>
                    </a:p>
                  </a:txBody>
                  <a:tcPr marL="54864" marR="54864" marT="22860" marB="22860" anchor="ctr">
                    <a:solidFill>
                      <a:srgbClr val="EEF2F9"/>
                    </a:solidFill>
                  </a:tcPr>
                </a:tc>
              </a:tr>
              <a:tr h="420624">
                <a:tc>
                  <a:txBody>
                    <a:bodyPr wrap="square"/>
                    <a:lstStyle/>
                    <a:p>
                      <a:r>
                        <a:rPr sz="1200" b="0">
                          <a:solidFill>
                            <a:srgbClr val="1F2937"/>
                          </a:solidFill>
                          <a:latin typeface="Calibri"/>
                        </a:rPr>
                        <a:t>7</a:t>
                      </a:r>
                    </a:p>
                  </a:txBody>
                  <a:tcPr marL="54864" marR="54864" marT="22860" marB="22860" anchor="ctr">
                    <a:solidFill>
                      <a:srgbClr val="FFFFFF"/>
                    </a:solidFill>
                  </a:tcPr>
                </a:tc>
                <a:tc>
                  <a:txBody>
                    <a:bodyPr wrap="square"/>
                    <a:lstStyle/>
                    <a:p>
                      <a:r>
                        <a:rPr sz="1200" b="0">
                          <a:solidFill>
                            <a:srgbClr val="1F2937"/>
                          </a:solidFill>
                          <a:latin typeface="Calibri"/>
                        </a:rPr>
                        <a:t>Liquor</a:t>
                      </a:r>
                    </a:p>
                  </a:txBody>
                  <a:tcPr marL="54864" marR="54864" marT="22860" marB="22860" anchor="ctr">
                    <a:solidFill>
                      <a:srgbClr val="FFFFFF"/>
                    </a:solidFill>
                  </a:tcPr>
                </a:tc>
                <a:tc>
                  <a:txBody>
                    <a:bodyPr wrap="square"/>
                    <a:lstStyle/>
                    <a:p>
                      <a:r>
                        <a:rPr sz="1200" b="0">
                          <a:solidFill>
                            <a:srgbClr val="1F2937"/>
                          </a:solidFill>
                          <a:latin typeface="Calibri"/>
                        </a:rPr>
                        <a:t>16000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8 ('Liquor Detail')</a:t>
                      </a:r>
                    </a:p>
                  </a:txBody>
                  <a:tcPr marL="54864" marR="54864" marT="22860" marB="22860" anchor="ctr">
                    <a:solidFill>
                      <a:srgbClr val="FFFFFF"/>
                    </a:solidFill>
                  </a:tcPr>
                </a:tc>
              </a:tr>
              <a:tr h="420624">
                <a:tc>
                  <a:txBody>
                    <a:bodyPr wrap="square"/>
                    <a:lstStyle/>
                    <a:p>
                      <a:r>
                        <a:rPr sz="1200" b="0">
                          <a:solidFill>
                            <a:srgbClr val="1F2937"/>
                          </a:solidFill>
                          <a:latin typeface="Calibri"/>
                        </a:rPr>
                        <a:t>8</a:t>
                      </a:r>
                    </a:p>
                  </a:txBody>
                  <a:tcPr marL="54864" marR="54864" marT="22860" marB="22860" anchor="ctr">
                    <a:solidFill>
                      <a:srgbClr val="EEF2F9"/>
                    </a:solidFill>
                  </a:tcPr>
                </a:tc>
                <a:tc>
                  <a:txBody>
                    <a:bodyPr wrap="square"/>
                    <a:lstStyle/>
                    <a:p>
                      <a:r>
                        <a:rPr sz="1200" b="0">
                          <a:solidFill>
                            <a:srgbClr val="1F2937"/>
                          </a:solidFill>
                          <a:latin typeface="Calibri"/>
                        </a:rPr>
                        <a:t>Watercraft</a:t>
                      </a:r>
                    </a:p>
                  </a:txBody>
                  <a:tcPr marL="54864" marR="54864" marT="22860" marB="22860" anchor="ctr">
                    <a:solidFill>
                      <a:srgbClr val="EEF2F9"/>
                    </a:solidFill>
                  </a:tcPr>
                </a:tc>
                <a:tc>
                  <a:txBody>
                    <a:bodyPr wrap="square"/>
                    <a:lstStyle/>
                    <a:p>
                      <a:r>
                        <a:rPr sz="1200" b="0">
                          <a:solidFill>
                            <a:srgbClr val="1F2937"/>
                          </a:solidFill>
                          <a:latin typeface="Calibri"/>
                        </a:rPr>
                        <a:t>18000</a:t>
                      </a:r>
                    </a:p>
                  </a:txBody>
                  <a:tcPr marL="54864" marR="54864" marT="22860" marB="22860" anchor="ctr">
                    <a:solidFill>
                      <a:srgbClr val="EEF2F9"/>
                    </a:solidFill>
                  </a:tcPr>
                </a:tc>
                <a:tc>
                  <a:txBody>
                    <a:bodyPr wrap="square"/>
                    <a:lstStyle/>
                    <a:p>
                      <a:r>
                        <a:rPr sz="1200" b="0">
                          <a:solidFill>
                            <a:srgbClr val="1F2937"/>
                          </a:solidFill>
                          <a:latin typeface="Calibri"/>
                        </a:rPr>
                        <a:t>Many</a:t>
                      </a:r>
                    </a:p>
                  </a:txBody>
                  <a:tcPr marL="54864" marR="54864" marT="22860" marB="22860" anchor="ctr">
                    <a:solidFill>
                      <a:srgbClr val="EEF2F9"/>
                    </a:solidFill>
                  </a:tcPr>
                </a:tc>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7 ('Watercraft Detail')</a:t>
                      </a:r>
                    </a:p>
                  </a:txBody>
                  <a:tcPr marL="54864" marR="54864" marT="22860" marB="22860" anchor="ctr">
                    <a:solidFill>
                      <a:srgbClr val="EEF2F9"/>
                    </a:solidFill>
                  </a:tcPr>
                </a:tc>
              </a:tr>
              <a:tr h="420624">
                <a:tc>
                  <a:txBody>
                    <a:bodyPr wrap="square"/>
                    <a:lstStyle/>
                    <a:p>
                      <a:r>
                        <a:rPr sz="1200" b="0">
                          <a:solidFill>
                            <a:srgbClr val="1F2937"/>
                          </a:solidFill>
                          <a:latin typeface="Calibri"/>
                        </a:rPr>
                        <a:t>9</a:t>
                      </a:r>
                    </a:p>
                  </a:txBody>
                  <a:tcPr marL="54864" marR="54864" marT="22860" marB="22860" anchor="ctr">
                    <a:solidFill>
                      <a:srgbClr val="FFFFFF"/>
                    </a:solidFill>
                  </a:tcPr>
                </a:tc>
                <a:tc>
                  <a:txBody>
                    <a:bodyPr wrap="square"/>
                    <a:lstStyle/>
                    <a:p>
                      <a:r>
                        <a:rPr sz="1200" b="0">
                          <a:solidFill>
                            <a:srgbClr val="1F2937"/>
                          </a:solidFill>
                          <a:latin typeface="Calibri"/>
                        </a:rPr>
                        <a:t>Other Liability</a:t>
                      </a:r>
                    </a:p>
                  </a:txBody>
                  <a:tcPr marL="54864" marR="54864" marT="22860" marB="22860" anchor="ctr">
                    <a:solidFill>
                      <a:srgbClr val="FFFFFF"/>
                    </a:solidFill>
                  </a:tcPr>
                </a:tc>
                <a:tc>
                  <a:txBody>
                    <a:bodyPr wrap="square"/>
                    <a:lstStyle/>
                    <a:p>
                      <a:r>
                        <a:rPr sz="1200" b="0">
                          <a:solidFill>
                            <a:srgbClr val="1F2937"/>
                          </a:solidFill>
                          <a:latin typeface="Calibri"/>
                        </a:rPr>
                        <a:t>30000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8 ('Other Liability Detail')</a:t>
                      </a:r>
                    </a:p>
                  </a:txBody>
                  <a:tcPr marL="54864" marR="54864" marT="22860" marB="22860" anchor="ctr">
                    <a:solidFill>
                      <a:srgbClr val="FFFFFF"/>
                    </a:solidFill>
                  </a:tcPr>
                </a:tc>
              </a:tr>
            </a:tbl>
          </a:graphicData>
        </a:graphic>
      </p:graphicFrame>
      <p:sp>
        <p:nvSpPr>
          <p:cNvPr id="9" name="TextBox 8"/>
          <p:cNvSpPr txBox="1"/>
          <p:nvPr/>
        </p:nvSpPr>
        <p:spPr>
          <a:xfrm>
            <a:off x="457200" y="5394960"/>
            <a:ext cx="11247120" cy="640080"/>
          </a:xfrm>
          <a:prstGeom prst="rect">
            <a:avLst/>
          </a:prstGeom>
          <a:noFill/>
        </p:spPr>
        <p:txBody>
          <a:bodyPr wrap="square" anchor="t" lIns="45720" rIns="45720">
            <a:spAutoFit/>
          </a:bodyPr>
          <a:lstStyle/>
          <a:p>
            <a:pPr algn="l">
              <a:spcAft>
                <a:spcPts val="400"/>
              </a:spcAft>
            </a:pPr>
            <a:r>
              <a:rPr sz="1300" b="0" i="0">
                <a:solidFill>
                  <a:srgbClr val="0B3B7A"/>
                </a:solidFill>
                <a:latin typeface="Calibri"/>
              </a:rPr>
              <a:t>Table columns on every group: Carrier, Policy Number, Effective Date, Expiration Date (FRC Summary page).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What Each Group Asks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14</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Fields sheet, pages '&lt;group&gt; Detail'</a:t>
            </a:r>
          </a:p>
        </p:txBody>
      </p:sp>
      <p:graphicFrame>
        <p:nvGraphicFramePr>
          <p:cNvPr id="8" name="Table 7"/>
          <p:cNvGraphicFramePr>
            <a:graphicFrameLocks noGrp="1"/>
          </p:cNvGraphicFramePr>
          <p:nvPr/>
        </p:nvGraphicFramePr>
        <p:xfrm>
          <a:off x="457200" y="1143000"/>
          <a:ext cx="11292840" cy="4956048"/>
        </p:xfrm>
        <a:graphic>
          <a:graphicData uri="http://schemas.openxmlformats.org/drawingml/2006/table">
            <a:tbl>
              <a:tblPr firstRow="1" bandRow="1">
                <a:tableStyleId>{5C22544A-7EE6-4342-B048-85BDC9FD1C3A}</a:tableStyleId>
              </a:tblPr>
              <a:tblGrid>
                <a:gridCol w="2194560"/>
                <a:gridCol w="9098280"/>
              </a:tblGrid>
              <a:tr h="347472">
                <a:tc>
                  <a:txBody>
                    <a:bodyPr wrap="square"/>
                    <a:lstStyle/>
                    <a:p>
                      <a:r>
                        <a:rPr sz="1000" b="1">
                          <a:solidFill>
                            <a:srgbClr val="FFFFFF"/>
                          </a:solidFill>
                          <a:latin typeface="Calibri"/>
                        </a:rPr>
                        <a:t>Group</a:t>
                      </a:r>
                    </a:p>
                  </a:txBody>
                  <a:tcPr marL="54864" marR="54864" marT="22860" marB="22860" anchor="ctr">
                    <a:solidFill>
                      <a:srgbClr val="0B3B7A"/>
                    </a:solidFill>
                  </a:tcPr>
                </a:tc>
                <a:tc>
                  <a:txBody>
                    <a:bodyPr wrap="square"/>
                    <a:lstStyle/>
                    <a:p>
                      <a:r>
                        <a:rPr sz="1000" b="1">
                          <a:solidFill>
                            <a:srgbClr val="FFFFFF"/>
                          </a:solidFill>
                          <a:latin typeface="Calibri"/>
                        </a:rPr>
                        <a:t>Fields after the 5 common ones (type, carrier, policy no., dates)</a:t>
                      </a:r>
                    </a:p>
                  </a:txBody>
                  <a:tcPr marL="54864" marR="54864" marT="22860" marB="22860" anchor="ctr">
                    <a:solidFill>
                      <a:srgbClr val="0B3B7A"/>
                    </a:solidFill>
                  </a:tcPr>
                </a:tc>
              </a:tr>
              <a:tr h="512064">
                <a:tc>
                  <a:txBody>
                    <a:bodyPr wrap="square"/>
                    <a:lstStyle/>
                    <a:p>
                      <a:r>
                        <a:rPr sz="1000" b="0">
                          <a:solidFill>
                            <a:srgbClr val="1F2937"/>
                          </a:solidFill>
                          <a:latin typeface="Calibri"/>
                        </a:rPr>
                        <a:t>Aircraft Liability</a:t>
                      </a:r>
                    </a:p>
                  </a:txBody>
                  <a:tcPr marL="54864" marR="54864" marT="22860" marB="22860" anchor="ctr">
                    <a:solidFill>
                      <a:srgbClr val="FFFFFF"/>
                    </a:solidFill>
                  </a:tcPr>
                </a:tc>
                <a:tc>
                  <a:txBody>
                    <a:bodyPr wrap="square"/>
                    <a:lstStyle/>
                    <a:p>
                      <a:r>
                        <a:rPr sz="1000" b="0">
                          <a:solidFill>
                            <a:srgbClr val="1F2937"/>
                          </a:solidFill>
                          <a:latin typeface="Calibri"/>
                        </a:rPr>
                        <a:t>7 fields in all. After the common ones: Underlying Liability Premium; Underlying Liability Limit</a:t>
                      </a:r>
                    </a:p>
                  </a:txBody>
                  <a:tcPr marL="54864" marR="54864" marT="22860" marB="22860" anchor="ctr">
                    <a:solidFill>
                      <a:srgbClr val="FFFFFF"/>
                    </a:solidFill>
                  </a:tcPr>
                </a:tc>
              </a:tr>
              <a:tr h="512064">
                <a:tc>
                  <a:txBody>
                    <a:bodyPr wrap="square"/>
                    <a:lstStyle/>
                    <a:p>
                      <a:r>
                        <a:rPr sz="1000" b="0">
                          <a:solidFill>
                            <a:srgbClr val="1F2937"/>
                          </a:solidFill>
                          <a:latin typeface="Calibri"/>
                        </a:rPr>
                        <a:t>BOP</a:t>
                      </a:r>
                    </a:p>
                  </a:txBody>
                  <a:tcPr marL="54864" marR="54864" marT="22860" marB="22860" anchor="ctr">
                    <a:solidFill>
                      <a:srgbClr val="EEF2F9"/>
                    </a:solidFill>
                  </a:tcPr>
                </a:tc>
                <a:tc>
                  <a:txBody>
                    <a:bodyPr wrap="square"/>
                    <a:lstStyle/>
                    <a:p>
                      <a:r>
                        <a:rPr sz="1000" b="0">
                          <a:solidFill>
                            <a:srgbClr val="1F2937"/>
                          </a:solidFill>
                          <a:latin typeface="Calibri"/>
                        </a:rPr>
                        <a:t>9 fields in all. After the common ones: Underlying Liability Premium; Underlying Each Occurrence Limit; Underlying Products/Completed Operations Aggregate Limit; Underlying General Aggregate Limit</a:t>
                      </a:r>
                    </a:p>
                  </a:txBody>
                  <a:tcPr marL="54864" marR="54864" marT="22860" marB="22860" anchor="ctr">
                    <a:solidFill>
                      <a:srgbClr val="EEF2F9"/>
                    </a:solidFill>
                  </a:tcPr>
                </a:tc>
              </a:tr>
              <a:tr h="512064">
                <a:tc>
                  <a:txBody>
                    <a:bodyPr wrap="square"/>
                    <a:lstStyle/>
                    <a:p>
                      <a:r>
                        <a:rPr sz="1000" b="0">
                          <a:solidFill>
                            <a:srgbClr val="1F2937"/>
                          </a:solidFill>
                          <a:latin typeface="Calibri"/>
                        </a:rPr>
                        <a:t>Commercial Auto</a:t>
                      </a:r>
                    </a:p>
                  </a:txBody>
                  <a:tcPr marL="54864" marR="54864" marT="22860" marB="22860" anchor="ctr">
                    <a:solidFill>
                      <a:srgbClr val="FFFFFF"/>
                    </a:solidFill>
                  </a:tcPr>
                </a:tc>
                <a:tc>
                  <a:txBody>
                    <a:bodyPr wrap="square"/>
                    <a:lstStyle/>
                    <a:p>
                      <a:r>
                        <a:rPr sz="1000" b="0">
                          <a:solidFill>
                            <a:srgbClr val="1F2937"/>
                          </a:solidFill>
                          <a:latin typeface="Calibri"/>
                        </a:rPr>
                        <a:t>27 fields in all. After the common ones: Underlying Liability Limit; Private Passenger Types - Liability Premium; Number of Vehicles; Light Trucks - Liability Premium; Medium Trucks - Liability Premium; plus 8 more</a:t>
                      </a:r>
                    </a:p>
                  </a:txBody>
                  <a:tcPr marL="54864" marR="54864" marT="22860" marB="22860" anchor="ctr">
                    <a:solidFill>
                      <a:srgbClr val="FFFFFF"/>
                    </a:solidFill>
                  </a:tcPr>
                </a:tc>
              </a:tr>
              <a:tr h="512064">
                <a:tc>
                  <a:txBody>
                    <a:bodyPr wrap="square"/>
                    <a:lstStyle/>
                    <a:p>
                      <a:r>
                        <a:rPr sz="1000" b="0">
                          <a:solidFill>
                            <a:srgbClr val="1F2937"/>
                          </a:solidFill>
                          <a:latin typeface="Calibri"/>
                        </a:rPr>
                        <a:t>Auto Dealers</a:t>
                      </a:r>
                    </a:p>
                  </a:txBody>
                  <a:tcPr marL="54864" marR="54864" marT="22860" marB="22860" anchor="ctr">
                    <a:solidFill>
                      <a:srgbClr val="EEF2F9"/>
                    </a:solidFill>
                  </a:tcPr>
                </a:tc>
                <a:tc>
                  <a:txBody>
                    <a:bodyPr wrap="square"/>
                    <a:lstStyle/>
                    <a:p>
                      <a:r>
                        <a:rPr sz="1000" b="0">
                          <a:solidFill>
                            <a:srgbClr val="1F2937"/>
                          </a:solidFill>
                          <a:latin typeface="Calibri"/>
                        </a:rPr>
                        <a:t>10 fields in all. After the common ones: Underlying Liability Premium; Underlying Each Accident Limit / Auto Only; Underlying Each Accident Limit / Other Than Auto; Underlying Aggregate Limit / Other Than Auto; Underlying Hired Auto Limit</a:t>
                      </a:r>
                    </a:p>
                  </a:txBody>
                  <a:tcPr marL="54864" marR="54864" marT="22860" marB="22860" anchor="ctr">
                    <a:solidFill>
                      <a:srgbClr val="EEF2F9"/>
                    </a:solidFill>
                  </a:tcPr>
                </a:tc>
              </a:tr>
              <a:tr h="512064">
                <a:tc>
                  <a:txBody>
                    <a:bodyPr wrap="square"/>
                    <a:lstStyle/>
                    <a:p>
                      <a:r>
                        <a:rPr sz="1000" b="0">
                          <a:solidFill>
                            <a:srgbClr val="1F2937"/>
                          </a:solidFill>
                          <a:latin typeface="Calibri"/>
                        </a:rPr>
                        <a:t>General Liability</a:t>
                      </a:r>
                    </a:p>
                  </a:txBody>
                  <a:tcPr marL="54864" marR="54864" marT="22860" marB="22860" anchor="ctr">
                    <a:solidFill>
                      <a:srgbClr val="FFFFFF"/>
                    </a:solidFill>
                  </a:tcPr>
                </a:tc>
                <a:tc>
                  <a:txBody>
                    <a:bodyPr wrap="square"/>
                    <a:lstStyle/>
                    <a:p>
                      <a:r>
                        <a:rPr sz="1000" b="0">
                          <a:solidFill>
                            <a:srgbClr val="1F2937"/>
                          </a:solidFill>
                          <a:latin typeface="Calibri"/>
                        </a:rPr>
                        <a:t>20 fields in all. After the common ones: Coverage Form; Underlying Each Occurrence Limit; Underlying Personal &amp; Advertising Injury Limit; Underlying General Aggregate Limit; Underlying Products/Completed Operations Aggregate Limit; plus 10 more</a:t>
                      </a:r>
                    </a:p>
                  </a:txBody>
                  <a:tcPr marL="54864" marR="54864" marT="22860" marB="22860" anchor="ctr">
                    <a:solidFill>
                      <a:srgbClr val="FFFFFF"/>
                    </a:solidFill>
                  </a:tcPr>
                </a:tc>
              </a:tr>
              <a:tr h="512064">
                <a:tc>
                  <a:txBody>
                    <a:bodyPr wrap="square"/>
                    <a:lstStyle/>
                    <a:p>
                      <a:r>
                        <a:rPr sz="1000" b="0">
                          <a:solidFill>
                            <a:srgbClr val="1F2937"/>
                          </a:solidFill>
                          <a:latin typeface="Calibri"/>
                        </a:rPr>
                        <a:t>Employers Liability</a:t>
                      </a:r>
                    </a:p>
                  </a:txBody>
                  <a:tcPr marL="54864" marR="54864" marT="22860" marB="22860" anchor="ctr">
                    <a:solidFill>
                      <a:srgbClr val="EEF2F9"/>
                    </a:solidFill>
                  </a:tcPr>
                </a:tc>
                <a:tc>
                  <a:txBody>
                    <a:bodyPr wrap="square"/>
                    <a:lstStyle/>
                    <a:p>
                      <a:r>
                        <a:rPr sz="1000" b="0">
                          <a:solidFill>
                            <a:srgbClr val="1F2937"/>
                          </a:solidFill>
                          <a:latin typeface="Calibri"/>
                        </a:rPr>
                        <a:t>9 fields in all. After the common ones: Underlying Liability Premium; Underlying Bodily Injury By Accident - Each Accident Limit; Underlying Bodily Injury By Disease - Each Employee Limit; Underlying Bodily Injury By Disease - Each Policy Limit</a:t>
                      </a:r>
                    </a:p>
                  </a:txBody>
                  <a:tcPr marL="54864" marR="54864" marT="22860" marB="22860" anchor="ctr">
                    <a:solidFill>
                      <a:srgbClr val="EEF2F9"/>
                    </a:solidFill>
                  </a:tcPr>
                </a:tc>
              </a:tr>
              <a:tr h="512064">
                <a:tc>
                  <a:txBody>
                    <a:bodyPr wrap="square"/>
                    <a:lstStyle/>
                    <a:p>
                      <a:r>
                        <a:rPr sz="1000" b="0">
                          <a:solidFill>
                            <a:srgbClr val="1F2937"/>
                          </a:solidFill>
                          <a:latin typeface="Calibri"/>
                        </a:rPr>
                        <a:t>Liquor</a:t>
                      </a:r>
                    </a:p>
                  </a:txBody>
                  <a:tcPr marL="54864" marR="54864" marT="22860" marB="22860" anchor="ctr">
                    <a:solidFill>
                      <a:srgbClr val="FFFFFF"/>
                    </a:solidFill>
                  </a:tcPr>
                </a:tc>
                <a:tc>
                  <a:txBody>
                    <a:bodyPr wrap="square"/>
                    <a:lstStyle/>
                    <a:p>
                      <a:r>
                        <a:rPr sz="1000" b="0">
                          <a:solidFill>
                            <a:srgbClr val="1F2937"/>
                          </a:solidFill>
                          <a:latin typeface="Calibri"/>
                        </a:rPr>
                        <a:t>8 fields in all. After the common ones: Underlying Liability Premium; Underlying Each Common Cause Limit; Underlying Aggregate Limit</a:t>
                      </a:r>
                    </a:p>
                  </a:txBody>
                  <a:tcPr marL="54864" marR="54864" marT="22860" marB="22860" anchor="ctr">
                    <a:solidFill>
                      <a:srgbClr val="FFFFFF"/>
                    </a:solidFill>
                  </a:tcPr>
                </a:tc>
              </a:tr>
              <a:tr h="512064">
                <a:tc>
                  <a:txBody>
                    <a:bodyPr wrap="square"/>
                    <a:lstStyle/>
                    <a:p>
                      <a:r>
                        <a:rPr sz="1000" b="0">
                          <a:solidFill>
                            <a:srgbClr val="1F2937"/>
                          </a:solidFill>
                          <a:latin typeface="Calibri"/>
                        </a:rPr>
                        <a:t>Watercraft</a:t>
                      </a:r>
                    </a:p>
                  </a:txBody>
                  <a:tcPr marL="54864" marR="54864" marT="22860" marB="22860" anchor="ctr">
                    <a:solidFill>
                      <a:srgbClr val="EEF2F9"/>
                    </a:solidFill>
                  </a:tcPr>
                </a:tc>
                <a:tc>
                  <a:txBody>
                    <a:bodyPr wrap="square"/>
                    <a:lstStyle/>
                    <a:p>
                      <a:r>
                        <a:rPr sz="1000" b="0">
                          <a:solidFill>
                            <a:srgbClr val="1F2937"/>
                          </a:solidFill>
                          <a:latin typeface="Calibri"/>
                        </a:rPr>
                        <a:t>7 fields in all. After the common ones: Underlying Liability Premium; Underlying Liability Limit</a:t>
                      </a:r>
                    </a:p>
                  </a:txBody>
                  <a:tcPr marL="54864" marR="54864" marT="22860" marB="22860" anchor="ctr">
                    <a:solidFill>
                      <a:srgbClr val="EEF2F9"/>
                    </a:solidFill>
                  </a:tcPr>
                </a:tc>
              </a:tr>
              <a:tr h="512064">
                <a:tc>
                  <a:txBody>
                    <a:bodyPr wrap="square"/>
                    <a:lstStyle/>
                    <a:p>
                      <a:r>
                        <a:rPr sz="1000" b="0">
                          <a:solidFill>
                            <a:srgbClr val="1F2937"/>
                          </a:solidFill>
                          <a:latin typeface="Calibri"/>
                        </a:rPr>
                        <a:t>Other Liability</a:t>
                      </a:r>
                    </a:p>
                  </a:txBody>
                  <a:tcPr marL="54864" marR="54864" marT="22860" marB="22860" anchor="ctr">
                    <a:solidFill>
                      <a:srgbClr val="FFFFFF"/>
                    </a:solidFill>
                  </a:tcPr>
                </a:tc>
                <a:tc>
                  <a:txBody>
                    <a:bodyPr wrap="square"/>
                    <a:lstStyle/>
                    <a:p>
                      <a:r>
                        <a:rPr sz="1000" b="0">
                          <a:solidFill>
                            <a:srgbClr val="1F2937"/>
                          </a:solidFill>
                          <a:latin typeface="Calibri"/>
                        </a:rPr>
                        <a:t>8 fields in all. After the common ones: Coverage Form; Underlying Liability Premium; Underlying Liability Limit</a:t>
                      </a:r>
                    </a:p>
                  </a:txBody>
                  <a:tcPr marL="54864" marR="54864" marT="22860" marB="2286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Dropdown Lists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15</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Domain Tables and Domain Table Entries sheets; Page Fields 'Domain Table' column</a:t>
            </a:r>
          </a:p>
        </p:txBody>
      </p:sp>
      <p:graphicFrame>
        <p:nvGraphicFramePr>
          <p:cNvPr id="8" name="Table 7"/>
          <p:cNvGraphicFramePr>
            <a:graphicFrameLocks noGrp="1"/>
          </p:cNvGraphicFramePr>
          <p:nvPr/>
        </p:nvGraphicFramePr>
        <p:xfrm>
          <a:off x="457200" y="1188720"/>
          <a:ext cx="11292840" cy="4974336"/>
        </p:xfrm>
        <a:graphic>
          <a:graphicData uri="http://schemas.openxmlformats.org/drawingml/2006/table">
            <a:tbl>
              <a:tblPr firstRow="1" bandRow="1">
                <a:tableStyleId>{5C22544A-7EE6-4342-B048-85BDC9FD1C3A}</a:tableStyleId>
              </a:tblPr>
              <a:tblGrid>
                <a:gridCol w="3108960"/>
                <a:gridCol w="1097280"/>
                <a:gridCol w="1737360"/>
                <a:gridCol w="5349240"/>
              </a:tblGrid>
              <a:tr h="347472">
                <a:tc>
                  <a:txBody>
                    <a:bodyPr wrap="square"/>
                    <a:lstStyle/>
                    <a:p>
                      <a:r>
                        <a:rPr sz="1200" b="1">
                          <a:solidFill>
                            <a:srgbClr val="FFFFFF"/>
                          </a:solidFill>
                          <a:latin typeface="Calibri"/>
                        </a:rPr>
                        <a:t>List name</a:t>
                      </a:r>
                    </a:p>
                  </a:txBody>
                  <a:tcPr marL="54864" marR="54864" marT="22860" marB="22860" anchor="ctr">
                    <a:solidFill>
                      <a:srgbClr val="0B3B7A"/>
                    </a:solidFill>
                  </a:tcPr>
                </a:tc>
                <a:tc>
                  <a:txBody>
                    <a:bodyPr wrap="square"/>
                    <a:lstStyle/>
                    <a:p>
                      <a:r>
                        <a:rPr sz="1200" b="1">
                          <a:solidFill>
                            <a:srgbClr val="FFFFFF"/>
                          </a:solidFill>
                          <a:latin typeface="Calibri"/>
                        </a:rPr>
                        <a:t>Values</a:t>
                      </a:r>
                    </a:p>
                  </a:txBody>
                  <a:tcPr marL="54864" marR="54864" marT="22860" marB="22860" anchor="ctr">
                    <a:solidFill>
                      <a:srgbClr val="0B3B7A"/>
                    </a:solidFill>
                  </a:tcPr>
                </a:tc>
                <a:tc>
                  <a:txBody>
                    <a:bodyPr wrap="square"/>
                    <a:lstStyle/>
                    <a:p>
                      <a:r>
                        <a:rPr sz="1200" b="1">
                          <a:solidFill>
                            <a:srgbClr val="FFFFFF"/>
                          </a:solidFill>
                          <a:latin typeface="Calibri"/>
                        </a:rPr>
                        <a:t>Fields using it</a:t>
                      </a:r>
                    </a:p>
                  </a:txBody>
                  <a:tcPr marL="54864" marR="54864" marT="22860" marB="22860" anchor="ctr">
                    <a:solidFill>
                      <a:srgbClr val="0B3B7A"/>
                    </a:solidFill>
                  </a:tcPr>
                </a:tc>
                <a:tc>
                  <a:txBody>
                    <a:bodyPr wrap="square"/>
                    <a:lstStyle/>
                    <a:p>
                      <a:r>
                        <a:rPr sz="1200" b="1">
                          <a:solidFill>
                            <a:srgbClr val="FFFFFF"/>
                          </a:solidFill>
                          <a:latin typeface="Calibri"/>
                        </a:rPr>
                        <a:t>First values</a:t>
                      </a:r>
                    </a:p>
                  </a:txBody>
                  <a:tcPr marL="54864" marR="54864" marT="22860" marB="22860" anchor="ctr">
                    <a:solidFill>
                      <a:srgbClr val="0B3B7A"/>
                    </a:solidFill>
                  </a:tcPr>
                </a:tc>
              </a:tr>
              <a:tr h="420624">
                <a:tc>
                  <a:txBody>
                    <a:bodyPr wrap="square"/>
                    <a:lstStyle/>
                    <a:p>
                      <a:r>
                        <a:rPr sz="1200" b="0">
                          <a:solidFill>
                            <a:srgbClr val="1F2937"/>
                          </a:solidFill>
                          <a:latin typeface="Calibri"/>
                        </a:rPr>
                        <a:t>CoverageForm</a:t>
                      </a:r>
                    </a:p>
                  </a:txBody>
                  <a:tcPr marL="54864" marR="54864" marT="22860" marB="22860" anchor="ctr">
                    <a:solidFill>
                      <a:srgbClr val="FFFFFF"/>
                    </a:solidFill>
                  </a:tcPr>
                </a:tc>
                <a:tc>
                  <a:txBody>
                    <a:bodyPr wrap="square"/>
                    <a:lstStyle/>
                    <a:p>
                      <a:r>
                        <a:rPr sz="1200" b="0">
                          <a:solidFill>
                            <a:srgbClr val="1F2937"/>
                          </a:solidFill>
                          <a:latin typeface="Calibri"/>
                        </a:rPr>
                        <a:t>2</a:t>
                      </a:r>
                    </a:p>
                  </a:txBody>
                  <a:tcPr marL="54864" marR="54864" marT="22860" marB="22860" anchor="ctr">
                    <a:solidFill>
                      <a:srgbClr val="FFFFFF"/>
                    </a:solidFill>
                  </a:tcPr>
                </a:tc>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Occurrence, Claims Made</a:t>
                      </a:r>
                    </a:p>
                  </a:txBody>
                  <a:tcPr marL="54864" marR="54864" marT="22860" marB="22860" anchor="ctr">
                    <a:solidFill>
                      <a:srgbClr val="FFFFFF"/>
                    </a:solidFill>
                  </a:tcPr>
                </a:tc>
              </a:tr>
              <a:tr h="420624">
                <a:tc>
                  <a:txBody>
                    <a:bodyPr wrap="square"/>
                    <a:lstStyle/>
                    <a:p>
                      <a:r>
                        <a:rPr sz="1200" b="0">
                          <a:solidFill>
                            <a:srgbClr val="1F2937"/>
                          </a:solidFill>
                          <a:latin typeface="Calibri"/>
                        </a:rPr>
                        <a:t>CoverageFormNotApplicable</a:t>
                      </a:r>
                    </a:p>
                  </a:txBody>
                  <a:tcPr marL="54864" marR="54864" marT="22860" marB="22860" anchor="ctr">
                    <a:solidFill>
                      <a:srgbClr val="EEF2F9"/>
                    </a:solidFill>
                  </a:tcPr>
                </a:tc>
                <a:tc>
                  <a:txBody>
                    <a:bodyPr wrap="square"/>
                    <a:lstStyle/>
                    <a:p>
                      <a:r>
                        <a:rPr sz="1200" b="0">
                          <a:solidFill>
                            <a:srgbClr val="1F2937"/>
                          </a:solidFill>
                          <a:latin typeface="Calibri"/>
                        </a:rPr>
                        <a:t>3</a:t>
                      </a:r>
                    </a:p>
                  </a:txBody>
                  <a:tcPr marL="54864" marR="54864" marT="22860" marB="22860" anchor="ctr">
                    <a:solidFill>
                      <a:srgbClr val="EEF2F9"/>
                    </a:solidFill>
                  </a:tcPr>
                </a:tc>
                <a:tc>
                  <a:txBody>
                    <a:bodyPr wrap="square"/>
                    <a:lstStyle/>
                    <a:p>
                      <a:r>
                        <a:rPr sz="1200" b="0">
                          <a:solidFill>
                            <a:srgbClr val="1F2937"/>
                          </a:solidFill>
                          <a:latin typeface="Calibri"/>
                        </a:rPr>
                        <a:t>1</a:t>
                      </a:r>
                    </a:p>
                  </a:txBody>
                  <a:tcPr marL="54864" marR="54864" marT="22860" marB="22860" anchor="ctr">
                    <a:solidFill>
                      <a:srgbClr val="EEF2F9"/>
                    </a:solidFill>
                  </a:tcPr>
                </a:tc>
                <a:tc>
                  <a:txBody>
                    <a:bodyPr wrap="square"/>
                    <a:lstStyle/>
                    <a:p>
                      <a:r>
                        <a:rPr sz="1200" b="0">
                          <a:solidFill>
                            <a:srgbClr val="1F2937"/>
                          </a:solidFill>
                          <a:latin typeface="Calibri"/>
                        </a:rPr>
                        <a:t>Occurrence, Claims Made, Not Applicable</a:t>
                      </a:r>
                    </a:p>
                  </a:txBody>
                  <a:tcPr marL="54864" marR="54864" marT="22860" marB="22860" anchor="ctr">
                    <a:solidFill>
                      <a:srgbClr val="EEF2F9"/>
                    </a:solidFill>
                  </a:tcPr>
                </a:tc>
              </a:tr>
              <a:tr h="420624">
                <a:tc>
                  <a:txBody>
                    <a:bodyPr wrap="square"/>
                    <a:lstStyle/>
                    <a:p>
                      <a:r>
                        <a:rPr sz="1200" b="0">
                          <a:solidFill>
                            <a:srgbClr val="1F2937"/>
                          </a:solidFill>
                          <a:latin typeface="Calibri"/>
                        </a:rPr>
                        <a:t>LegalEntity</a:t>
                      </a:r>
                    </a:p>
                  </a:txBody>
                  <a:tcPr marL="54864" marR="54864" marT="22860" marB="22860" anchor="ctr">
                    <a:solidFill>
                      <a:srgbClr val="FFFFFF"/>
                    </a:solidFill>
                  </a:tcPr>
                </a:tc>
                <a:tc>
                  <a:txBody>
                    <a:bodyPr wrap="square"/>
                    <a:lstStyle/>
                    <a:p>
                      <a:r>
                        <a:rPr sz="1200" b="0">
                          <a:solidFill>
                            <a:srgbClr val="1F2937"/>
                          </a:solidFill>
                          <a:latin typeface="Calibri"/>
                        </a:rPr>
                        <a:t>28</a:t>
                      </a:r>
                    </a:p>
                  </a:txBody>
                  <a:tcPr marL="54864" marR="54864" marT="22860" marB="22860" anchor="ctr">
                    <a:solidFill>
                      <a:srgbClr val="FFFFFF"/>
                    </a:solidFill>
                  </a:tcPr>
                </a:tc>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Association, C Corporation, Common Ownership…</a:t>
                      </a:r>
                    </a:p>
                  </a:txBody>
                  <a:tcPr marL="54864" marR="54864" marT="22860" marB="22860" anchor="ctr">
                    <a:solidFill>
                      <a:srgbClr val="FFFFFF"/>
                    </a:solidFill>
                  </a:tcPr>
                </a:tc>
              </a:tr>
              <a:tr h="420624">
                <a:tc>
                  <a:txBody>
                    <a:bodyPr wrap="square"/>
                    <a:lstStyle/>
                    <a:p>
                      <a:r>
                        <a:rPr sz="1200" b="0">
                          <a:solidFill>
                            <a:srgbClr val="1F2937"/>
                          </a:solidFill>
                          <a:latin typeface="Calibri"/>
                        </a:rPr>
                        <a:t>LiabilityLimit</a:t>
                      </a:r>
                    </a:p>
                  </a:txBody>
                  <a:tcPr marL="54864" marR="54864" marT="22860" marB="22860" anchor="ctr">
                    <a:solidFill>
                      <a:srgbClr val="EEF2F9"/>
                    </a:solidFill>
                  </a:tcPr>
                </a:tc>
                <a:tc>
                  <a:txBody>
                    <a:bodyPr wrap="square"/>
                    <a:lstStyle/>
                    <a:p>
                      <a:r>
                        <a:rPr sz="1200" b="0">
                          <a:solidFill>
                            <a:srgbClr val="1F2937"/>
                          </a:solidFill>
                          <a:latin typeface="Calibri"/>
                        </a:rPr>
                        <a:t>81</a:t>
                      </a:r>
                    </a:p>
                  </a:txBody>
                  <a:tcPr marL="54864" marR="54864" marT="22860" marB="22860" anchor="ctr">
                    <a:solidFill>
                      <a:srgbClr val="EEF2F9"/>
                    </a:solidFill>
                  </a:tcPr>
                </a:tc>
                <a:tc>
                  <a:txBody>
                    <a:bodyPr wrap="square"/>
                    <a:lstStyle/>
                    <a:p>
                      <a:r>
                        <a:rPr sz="1200" b="0">
                          <a:solidFill>
                            <a:srgbClr val="1F2937"/>
                          </a:solidFill>
                          <a:latin typeface="Calibri"/>
                        </a:rPr>
                        <a:t>17</a:t>
                      </a:r>
                    </a:p>
                  </a:txBody>
                  <a:tcPr marL="54864" marR="54864" marT="22860" marB="22860" anchor="ctr">
                    <a:solidFill>
                      <a:srgbClr val="EEF2F9"/>
                    </a:solidFill>
                  </a:tcPr>
                </a:tc>
                <a:tc>
                  <a:txBody>
                    <a:bodyPr wrap="square"/>
                    <a:lstStyle/>
                    <a:p>
                      <a:r>
                        <a:rPr sz="1200" b="0">
                          <a:solidFill>
                            <a:srgbClr val="1F2937"/>
                          </a:solidFill>
                          <a:latin typeface="Calibri"/>
                        </a:rPr>
                        <a:t>10,000, 15,000, 20,000…</a:t>
                      </a:r>
                    </a:p>
                  </a:txBody>
                  <a:tcPr marL="54864" marR="54864" marT="22860" marB="22860" anchor="ctr">
                    <a:solidFill>
                      <a:srgbClr val="EEF2F9"/>
                    </a:solidFill>
                  </a:tcPr>
                </a:tc>
              </a:tr>
              <a:tr h="420624">
                <a:tc>
                  <a:txBody>
                    <a:bodyPr wrap="square"/>
                    <a:lstStyle/>
                    <a:p>
                      <a:r>
                        <a:rPr sz="1200" b="0">
                          <a:solidFill>
                            <a:srgbClr val="1F2937"/>
                          </a:solidFill>
                          <a:latin typeface="Calibri"/>
                        </a:rPr>
                        <a:t>LiabilityLimitEL</a:t>
                      </a:r>
                    </a:p>
                  </a:txBody>
                  <a:tcPr marL="54864" marR="54864" marT="22860" marB="22860" anchor="ctr">
                    <a:solidFill>
                      <a:srgbClr val="FFFFFF"/>
                    </a:solidFill>
                  </a:tcPr>
                </a:tc>
                <a:tc>
                  <a:txBody>
                    <a:bodyPr wrap="square"/>
                    <a:lstStyle/>
                    <a:p>
                      <a:r>
                        <a:rPr sz="1200" b="0">
                          <a:solidFill>
                            <a:srgbClr val="1F2937"/>
                          </a:solidFill>
                          <a:latin typeface="Calibri"/>
                        </a:rPr>
                        <a:t>12</a:t>
                      </a:r>
                    </a:p>
                  </a:txBody>
                  <a:tcPr marL="54864" marR="54864" marT="22860" marB="22860" anchor="ctr">
                    <a:solidFill>
                      <a:srgbClr val="FFFFFF"/>
                    </a:solidFill>
                  </a:tcPr>
                </a:tc>
                <a:tc>
                  <a:txBody>
                    <a:bodyPr wrap="square"/>
                    <a:lstStyle/>
                    <a:p>
                      <a:r>
                        <a:rPr sz="1200" b="0">
                          <a:solidFill>
                            <a:srgbClr val="1F2937"/>
                          </a:solidFill>
                          <a:latin typeface="Calibri"/>
                        </a:rPr>
                        <a:t>2</a:t>
                      </a:r>
                    </a:p>
                  </a:txBody>
                  <a:tcPr marL="54864" marR="54864" marT="22860" marB="22860" anchor="ctr">
                    <a:solidFill>
                      <a:srgbClr val="FFFFFF"/>
                    </a:solidFill>
                  </a:tcPr>
                </a:tc>
                <a:tc>
                  <a:txBody>
                    <a:bodyPr wrap="square"/>
                    <a:lstStyle/>
                    <a:p>
                      <a:r>
                        <a:rPr sz="1200" b="0">
                          <a:solidFill>
                            <a:srgbClr val="1F2937"/>
                          </a:solidFill>
                          <a:latin typeface="Calibri"/>
                        </a:rPr>
                        <a:t>100,000, 500,000, 1,000,000…</a:t>
                      </a:r>
                    </a:p>
                  </a:txBody>
                  <a:tcPr marL="54864" marR="54864" marT="22860" marB="22860" anchor="ctr">
                    <a:solidFill>
                      <a:srgbClr val="FFFFFF"/>
                    </a:solidFill>
                  </a:tcPr>
                </a:tc>
              </a:tr>
              <a:tr h="420624">
                <a:tc>
                  <a:txBody>
                    <a:bodyPr wrap="square"/>
                    <a:lstStyle/>
                    <a:p>
                      <a:r>
                        <a:rPr sz="1200" b="0">
                          <a:solidFill>
                            <a:srgbClr val="1F2937"/>
                          </a:solidFill>
                          <a:latin typeface="Calibri"/>
                        </a:rPr>
                        <a:t>LiabilityLimitELAggregate</a:t>
                      </a:r>
                    </a:p>
                  </a:txBody>
                  <a:tcPr marL="54864" marR="54864" marT="22860" marB="22860" anchor="ctr">
                    <a:solidFill>
                      <a:srgbClr val="EEF2F9"/>
                    </a:solidFill>
                  </a:tcPr>
                </a:tc>
                <a:tc>
                  <a:txBody>
                    <a:bodyPr wrap="square"/>
                    <a:lstStyle/>
                    <a:p>
                      <a:r>
                        <a:rPr sz="1200" b="0">
                          <a:solidFill>
                            <a:srgbClr val="1F2937"/>
                          </a:solidFill>
                          <a:latin typeface="Calibri"/>
                        </a:rPr>
                        <a:t>11</a:t>
                      </a:r>
                    </a:p>
                  </a:txBody>
                  <a:tcPr marL="54864" marR="54864" marT="22860" marB="22860" anchor="ctr">
                    <a:solidFill>
                      <a:srgbClr val="EEF2F9"/>
                    </a:solidFill>
                  </a:tcPr>
                </a:tc>
                <a:tc>
                  <a:txBody>
                    <a:bodyPr wrap="square"/>
                    <a:lstStyle/>
                    <a:p>
                      <a:r>
                        <a:rPr sz="1200" b="0">
                          <a:solidFill>
                            <a:srgbClr val="1F2937"/>
                          </a:solidFill>
                          <a:latin typeface="Calibri"/>
                        </a:rPr>
                        <a:t>1</a:t>
                      </a:r>
                    </a:p>
                  </a:txBody>
                  <a:tcPr marL="54864" marR="54864" marT="22860" marB="22860" anchor="ctr">
                    <a:solidFill>
                      <a:srgbClr val="EEF2F9"/>
                    </a:solidFill>
                  </a:tcPr>
                </a:tc>
                <a:tc>
                  <a:txBody>
                    <a:bodyPr wrap="square"/>
                    <a:lstStyle/>
                    <a:p>
                      <a:r>
                        <a:rPr sz="1200" b="0">
                          <a:solidFill>
                            <a:srgbClr val="1F2937"/>
                          </a:solidFill>
                          <a:latin typeface="Calibri"/>
                        </a:rPr>
                        <a:t>500,000, 1,000,000, 2,000,000…</a:t>
                      </a:r>
                    </a:p>
                  </a:txBody>
                  <a:tcPr marL="54864" marR="54864" marT="22860" marB="22860" anchor="ctr">
                    <a:solidFill>
                      <a:srgbClr val="EEF2F9"/>
                    </a:solidFill>
                  </a:tcPr>
                </a:tc>
              </a:tr>
              <a:tr h="420624">
                <a:tc>
                  <a:txBody>
                    <a:bodyPr wrap="square"/>
                    <a:lstStyle/>
                    <a:p>
                      <a:r>
                        <a:rPr sz="1200" b="0">
                          <a:solidFill>
                            <a:srgbClr val="1F2937"/>
                          </a:solidFill>
                          <a:latin typeface="Calibri"/>
                        </a:rPr>
                        <a:t>LiabilityLimitNotApplicable</a:t>
                      </a:r>
                    </a:p>
                  </a:txBody>
                  <a:tcPr marL="54864" marR="54864" marT="22860" marB="22860" anchor="ctr">
                    <a:solidFill>
                      <a:srgbClr val="FFFFFF"/>
                    </a:solidFill>
                  </a:tcPr>
                </a:tc>
                <a:tc>
                  <a:txBody>
                    <a:bodyPr wrap="square"/>
                    <a:lstStyle/>
                    <a:p>
                      <a:r>
                        <a:rPr sz="1200" b="0">
                          <a:solidFill>
                            <a:srgbClr val="1F2937"/>
                          </a:solidFill>
                          <a:latin typeface="Calibri"/>
                        </a:rPr>
                        <a:t>82</a:t>
                      </a:r>
                    </a:p>
                  </a:txBody>
                  <a:tcPr marL="54864" marR="54864" marT="22860" marB="22860" anchor="ctr">
                    <a:solidFill>
                      <a:srgbClr val="FFFFFF"/>
                    </a:solidFill>
                  </a:tcPr>
                </a:tc>
                <a:tc>
                  <a:txBody>
                    <a:bodyPr wrap="square"/>
                    <a:lstStyle/>
                    <a:p>
                      <a:r>
                        <a:rPr sz="1200" b="0">
                          <a:solidFill>
                            <a:srgbClr val="1F2937"/>
                          </a:solidFill>
                          <a:latin typeface="Calibri"/>
                        </a:rPr>
                        <a:t>3</a:t>
                      </a:r>
                    </a:p>
                  </a:txBody>
                  <a:tcPr marL="54864" marR="54864" marT="22860" marB="22860" anchor="ctr">
                    <a:solidFill>
                      <a:srgbClr val="FFFFFF"/>
                    </a:solidFill>
                  </a:tcPr>
                </a:tc>
                <a:tc>
                  <a:txBody>
                    <a:bodyPr wrap="square"/>
                    <a:lstStyle/>
                    <a:p>
                      <a:r>
                        <a:rPr sz="1200" b="0">
                          <a:solidFill>
                            <a:srgbClr val="1F2937"/>
                          </a:solidFill>
                          <a:latin typeface="Calibri"/>
                        </a:rPr>
                        <a:t>Not Applicable, 10,000, 15,000…</a:t>
                      </a:r>
                    </a:p>
                  </a:txBody>
                  <a:tcPr marL="54864" marR="54864" marT="22860" marB="22860" anchor="ctr">
                    <a:solidFill>
                      <a:srgbClr val="FFFFFF"/>
                    </a:solidFill>
                  </a:tcPr>
                </a:tc>
              </a:tr>
              <a:tr h="420624">
                <a:tc>
                  <a:txBody>
                    <a:bodyPr wrap="square"/>
                    <a:lstStyle/>
                    <a:p>
                      <a:r>
                        <a:rPr sz="1200" b="0">
                          <a:solidFill>
                            <a:srgbClr val="1F2937"/>
                          </a:solidFill>
                          <a:latin typeface="Calibri"/>
                        </a:rPr>
                        <a:t>Limit</a:t>
                      </a:r>
                    </a:p>
                  </a:txBody>
                  <a:tcPr marL="54864" marR="54864" marT="22860" marB="22860" anchor="ctr">
                    <a:solidFill>
                      <a:srgbClr val="EEF2F9"/>
                    </a:solidFill>
                  </a:tcPr>
                </a:tc>
                <a:tc>
                  <a:txBody>
                    <a:bodyPr wrap="square"/>
                    <a:lstStyle/>
                    <a:p>
                      <a:r>
                        <a:rPr sz="1200" b="0">
                          <a:solidFill>
                            <a:srgbClr val="1F2937"/>
                          </a:solidFill>
                          <a:latin typeface="Calibri"/>
                        </a:rPr>
                        <a:t>5</a:t>
                      </a:r>
                    </a:p>
                  </a:txBody>
                  <a:tcPr marL="54864" marR="54864" marT="22860" marB="22860" anchor="ctr">
                    <a:solidFill>
                      <a:srgbClr val="EEF2F9"/>
                    </a:solidFill>
                  </a:tcPr>
                </a:tc>
                <a:tc>
                  <a:txBody>
                    <a:bodyPr wrap="square"/>
                    <a:lstStyle/>
                    <a:p>
                      <a:r>
                        <a:rPr sz="1200" b="0">
                          <a:solidFill>
                            <a:srgbClr val="1F2937"/>
                          </a:solidFill>
                          <a:latin typeface="Calibri"/>
                        </a:rPr>
                        <a:t>2</a:t>
                      </a:r>
                    </a:p>
                  </a:txBody>
                  <a:tcPr marL="54864" marR="54864" marT="22860" marB="22860" anchor="ctr">
                    <a:solidFill>
                      <a:srgbClr val="EEF2F9"/>
                    </a:solidFill>
                  </a:tcPr>
                </a:tc>
                <a:tc>
                  <a:txBody>
                    <a:bodyPr wrap="square"/>
                    <a:lstStyle/>
                    <a:p>
                      <a:r>
                        <a:rPr sz="1200" b="0">
                          <a:solidFill>
                            <a:srgbClr val="1F2937"/>
                          </a:solidFill>
                          <a:latin typeface="Calibri"/>
                        </a:rPr>
                        <a:t>1,000,000, 2,000,000, 3,000,000…</a:t>
                      </a:r>
                    </a:p>
                  </a:txBody>
                  <a:tcPr marL="54864" marR="54864" marT="22860" marB="22860" anchor="ctr">
                    <a:solidFill>
                      <a:srgbClr val="EEF2F9"/>
                    </a:solidFill>
                  </a:tcPr>
                </a:tc>
              </a:tr>
              <a:tr h="420624">
                <a:tc>
                  <a:txBody>
                    <a:bodyPr wrap="square"/>
                    <a:lstStyle/>
                    <a:p>
                      <a:r>
                        <a:rPr sz="1200" b="0">
                          <a:solidFill>
                            <a:srgbClr val="1F2937"/>
                          </a:solidFill>
                          <a:latin typeface="Calibri"/>
                        </a:rPr>
                        <a:t>PolicyCoverageForm</a:t>
                      </a:r>
                    </a:p>
                  </a:txBody>
                  <a:tcPr marL="54864" marR="54864" marT="22860" marB="22860" anchor="ctr">
                    <a:solidFill>
                      <a:srgbClr val="FFFFFF"/>
                    </a:solidFill>
                  </a:tcPr>
                </a:tc>
                <a:tc>
                  <a:txBody>
                    <a:bodyPr wrap="square"/>
                    <a:lstStyle/>
                    <a:p>
                      <a:r>
                        <a:rPr sz="1200" b="0">
                          <a:solidFill>
                            <a:srgbClr val="1F2937"/>
                          </a:solidFill>
                          <a:latin typeface="Calibri"/>
                        </a:rPr>
                        <a:t>3</a:t>
                      </a:r>
                    </a:p>
                  </a:txBody>
                  <a:tcPr marL="54864" marR="54864" marT="22860" marB="22860" anchor="ctr">
                    <a:solidFill>
                      <a:srgbClr val="FFFFFF"/>
                    </a:solidFill>
                  </a:tcPr>
                </a:tc>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Commercial Umbrella Coverage Form, Commercial Excess Liability Coverage Form, Commercial Umbrella Coverage Form and Commercial Excess Liability Coverage Form</a:t>
                      </a:r>
                    </a:p>
                  </a:txBody>
                  <a:tcPr marL="54864" marR="54864" marT="22860" marB="22860" anchor="ctr">
                    <a:solidFill>
                      <a:srgbClr val="FFFFFF"/>
                    </a:solidFill>
                  </a:tcPr>
                </a:tc>
              </a:tr>
              <a:tr h="420624">
                <a:tc>
                  <a:txBody>
                    <a:bodyPr wrap="square"/>
                    <a:lstStyle/>
                    <a:p>
                      <a:r>
                        <a:rPr sz="1200" b="0">
                          <a:solidFill>
                            <a:srgbClr val="1F2937"/>
                          </a:solidFill>
                          <a:latin typeface="Calibri"/>
                        </a:rPr>
                        <a:t>RiskType</a:t>
                      </a:r>
                    </a:p>
                  </a:txBody>
                  <a:tcPr marL="54864" marR="54864" marT="22860" marB="22860" anchor="ctr">
                    <a:solidFill>
                      <a:srgbClr val="EEF2F9"/>
                    </a:solidFill>
                  </a:tcPr>
                </a:tc>
                <a:tc>
                  <a:txBody>
                    <a:bodyPr wrap="square"/>
                    <a:lstStyle/>
                    <a:p>
                      <a:r>
                        <a:rPr sz="1200" b="0">
                          <a:solidFill>
                            <a:srgbClr val="1F2937"/>
                          </a:solidFill>
                          <a:latin typeface="Calibri"/>
                        </a:rPr>
                        <a:t>9</a:t>
                      </a:r>
                    </a:p>
                  </a:txBody>
                  <a:tcPr marL="54864" marR="54864" marT="22860" marB="22860" anchor="ctr">
                    <a:solidFill>
                      <a:srgbClr val="EEF2F9"/>
                    </a:solidFill>
                  </a:tcPr>
                </a:tc>
                <a:tc>
                  <a:txBody>
                    <a:bodyPr wrap="square"/>
                    <a:lstStyle/>
                    <a:p>
                      <a:r>
                        <a:rPr sz="1200" b="0">
                          <a:solidFill>
                            <a:srgbClr val="1F2937"/>
                          </a:solidFill>
                          <a:latin typeface="Calibri"/>
                        </a:rPr>
                        <a:t>1</a:t>
                      </a:r>
                    </a:p>
                  </a:txBody>
                  <a:tcPr marL="54864" marR="54864" marT="22860" marB="22860" anchor="ctr">
                    <a:solidFill>
                      <a:srgbClr val="EEF2F9"/>
                    </a:solidFill>
                  </a:tcPr>
                </a:tc>
                <a:tc>
                  <a:txBody>
                    <a:bodyPr wrap="square"/>
                    <a:lstStyle/>
                    <a:p>
                      <a:r>
                        <a:rPr sz="1200" b="0">
                          <a:solidFill>
                            <a:srgbClr val="1F2937"/>
                          </a:solidFill>
                          <a:latin typeface="Calibri"/>
                        </a:rPr>
                        <a:t>Apartment House, Contracting, Industrial/Processing…</a:t>
                      </a:r>
                    </a:p>
                  </a:txBody>
                  <a:tcPr marL="54864" marR="54864" marT="22860" marB="22860" anchor="ctr">
                    <a:solidFill>
                      <a:srgbClr val="EEF2F9"/>
                    </a:solidFill>
                  </a:tcPr>
                </a:tc>
              </a:tr>
              <a:tr h="420624">
                <a:tc>
                  <a:txBody>
                    <a:bodyPr wrap="square"/>
                    <a:lstStyle/>
                    <a:p>
                      <a:r>
                        <a:rPr sz="1200" b="0">
                          <a:solidFill>
                            <a:srgbClr val="1F2937"/>
                          </a:solidFill>
                          <a:latin typeface="Calibri"/>
                        </a:rPr>
                        <a:t>YesNo</a:t>
                      </a:r>
                    </a:p>
                  </a:txBody>
                  <a:tcPr marL="54864" marR="54864" marT="22860" marB="22860" anchor="ctr">
                    <a:solidFill>
                      <a:srgbClr val="FFFFFF"/>
                    </a:solidFill>
                  </a:tcPr>
                </a:tc>
                <a:tc>
                  <a:txBody>
                    <a:bodyPr wrap="square"/>
                    <a:lstStyle/>
                    <a:p>
                      <a:r>
                        <a:rPr sz="1200" b="0">
                          <a:solidFill>
                            <a:srgbClr val="1F2937"/>
                          </a:solidFill>
                          <a:latin typeface="Calibri"/>
                        </a:rPr>
                        <a:t>2</a:t>
                      </a:r>
                    </a:p>
                  </a:txBody>
                  <a:tcPr marL="54864" marR="54864" marT="22860" marB="22860" anchor="ctr">
                    <a:solidFill>
                      <a:srgbClr val="FFFFFF"/>
                    </a:solidFill>
                  </a:tcPr>
                </a:tc>
                <a:tc>
                  <a:txBody>
                    <a:bodyPr wrap="square"/>
                    <a:lstStyle/>
                    <a:p>
                      <a:r>
                        <a:rPr sz="1200" b="0">
                          <a:solidFill>
                            <a:srgbClr val="1F2937"/>
                          </a:solidFill>
                          <a:latin typeface="Calibri"/>
                        </a:rPr>
                        <a:t>6</a:t>
                      </a:r>
                    </a:p>
                  </a:txBody>
                  <a:tcPr marL="54864" marR="54864" marT="22860" marB="22860" anchor="ctr">
                    <a:solidFill>
                      <a:srgbClr val="FFFFFF"/>
                    </a:solidFill>
                  </a:tcPr>
                </a:tc>
                <a:tc>
                  <a:txBody>
                    <a:bodyPr wrap="square"/>
                    <a:lstStyle/>
                    <a:p>
                      <a:r>
                        <a:rPr sz="1200" b="0">
                          <a:solidFill>
                            <a:srgbClr val="1F2937"/>
                          </a:solidFill>
                          <a:latin typeface="Calibri"/>
                        </a:rPr>
                        <a:t>No, Yes</a:t>
                      </a:r>
                    </a:p>
                  </a:txBody>
                  <a:tcPr marL="54864" marR="54864" marT="22860" marB="22860" anchor="ctr">
                    <a:solidFill>
                      <a:srgbClr val="FFFFFF"/>
                    </a:solidFill>
                  </a:tcPr>
                </a:tc>
              </a:tr>
            </a:tbl>
          </a:graphicData>
        </a:graphic>
      </p:graphicFrame>
      <p:sp>
        <p:nvSpPr>
          <p:cNvPr id="9" name="TextBox 8"/>
          <p:cNvSpPr txBox="1"/>
          <p:nvPr/>
        </p:nvSpPr>
        <p:spPr>
          <a:xfrm>
            <a:off x="457200" y="5212080"/>
            <a:ext cx="11247120" cy="640080"/>
          </a:xfrm>
          <a:prstGeom prst="rect">
            <a:avLst/>
          </a:prstGeom>
          <a:noFill/>
        </p:spPr>
        <p:txBody>
          <a:bodyPr wrap="square" anchor="t" lIns="45720" rIns="45720">
            <a:spAutoFit/>
          </a:bodyPr>
          <a:lstStyle/>
          <a:p>
            <a:pPr algn="l">
              <a:spcAft>
                <a:spcPts val="400"/>
              </a:spcAft>
            </a:pPr>
            <a:r>
              <a:rPr sz="1200" b="0" i="0">
                <a:solidFill>
                  <a:srgbClr val="6B7280"/>
                </a:solidFill>
                <a:latin typeface="Calibri"/>
              </a:rPr>
              <a:t>Value shown = value stored for every entry. The five keyed lists (County, City, and so on) are not used by any Commercial Umbrella field.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Field Format Rules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16</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DS (data structure) CU-AK, sheet Column Details; matched to FRC fields by table and field name</a:t>
            </a:r>
          </a:p>
        </p:txBody>
      </p:sp>
      <p:graphicFrame>
        <p:nvGraphicFramePr>
          <p:cNvPr id="8" name="Table 7"/>
          <p:cNvGraphicFramePr>
            <a:graphicFrameLocks noGrp="1"/>
          </p:cNvGraphicFramePr>
          <p:nvPr/>
        </p:nvGraphicFramePr>
        <p:xfrm>
          <a:off x="457200" y="1188720"/>
          <a:ext cx="11292840" cy="2907792"/>
        </p:xfrm>
        <a:graphic>
          <a:graphicData uri="http://schemas.openxmlformats.org/drawingml/2006/table">
            <a:tbl>
              <a:tblPr firstRow="1" bandRow="1">
                <a:tableStyleId>{5C22544A-7EE6-4342-B048-85BDC9FD1C3A}</a:tableStyleId>
              </a:tblPr>
              <a:tblGrid>
                <a:gridCol w="3657600"/>
                <a:gridCol w="3108960"/>
                <a:gridCol w="1828800"/>
                <a:gridCol w="2697480"/>
              </a:tblGrid>
              <a:tr h="347472">
                <a:tc>
                  <a:txBody>
                    <a:bodyPr wrap="square"/>
                    <a:lstStyle/>
                    <a:p>
                      <a:r>
                        <a:rPr sz="1200" b="1">
                          <a:solidFill>
                            <a:srgbClr val="FFFFFF"/>
                          </a:solidFill>
                          <a:latin typeface="Calibri"/>
                        </a:rPr>
                        <a:t>Data type</a:t>
                      </a:r>
                    </a:p>
                  </a:txBody>
                  <a:tcPr marL="54864" marR="54864" marT="22860" marB="22860" anchor="ctr">
                    <a:solidFill>
                      <a:srgbClr val="0B3B7A"/>
                    </a:solidFill>
                  </a:tcPr>
                </a:tc>
                <a:tc>
                  <a:txBody>
                    <a:bodyPr wrap="square"/>
                    <a:lstStyle/>
                    <a:p>
                      <a:r>
                        <a:rPr sz="1200" b="1">
                          <a:solidFill>
                            <a:srgbClr val="FFFFFF"/>
                          </a:solidFill>
                          <a:latin typeface="Calibri"/>
                        </a:rPr>
                        <a:t>Typical use</a:t>
                      </a:r>
                    </a:p>
                  </a:txBody>
                  <a:tcPr marL="54864" marR="54864" marT="22860" marB="22860" anchor="ctr">
                    <a:solidFill>
                      <a:srgbClr val="0B3B7A"/>
                    </a:solidFill>
                  </a:tcPr>
                </a:tc>
                <a:tc>
                  <a:txBody>
                    <a:bodyPr wrap="square"/>
                    <a:lstStyle/>
                    <a:p>
                      <a:r>
                        <a:rPr sz="1200" b="1">
                          <a:solidFill>
                            <a:srgbClr val="FFFFFF"/>
                          </a:solidFill>
                          <a:latin typeface="Calibri"/>
                        </a:rPr>
                        <a:t>Fields on our pages</a:t>
                      </a:r>
                    </a:p>
                  </a:txBody>
                  <a:tcPr marL="54864" marR="54864" marT="22860" marB="22860" anchor="ctr">
                    <a:solidFill>
                      <a:srgbClr val="0B3B7A"/>
                    </a:solidFill>
                  </a:tcPr>
                </a:tc>
                <a:tc>
                  <a:txBody>
                    <a:bodyPr wrap="square"/>
                    <a:lstStyle/>
                    <a:p>
                      <a:r>
                        <a:rPr sz="1200" b="1">
                          <a:solidFill>
                            <a:srgbClr val="FFFFFF"/>
                          </a:solidFill>
                          <a:latin typeface="Calibri"/>
                        </a:rPr>
                        <a:t>On screen</a:t>
                      </a:r>
                    </a:p>
                  </a:txBody>
                  <a:tcPr marL="54864" marR="54864" marT="22860" marB="22860" anchor="ctr">
                    <a:solidFill>
                      <a:srgbClr val="0B3B7A"/>
                    </a:solidFill>
                  </a:tcPr>
                </a:tc>
              </a:tr>
              <a:tr h="640080">
                <a:tc>
                  <a:txBody>
                    <a:bodyPr wrap="square"/>
                    <a:lstStyle/>
                    <a:p>
                      <a:r>
                        <a:rPr sz="1200" b="0">
                          <a:solidFill>
                            <a:srgbClr val="1F2937"/>
                          </a:solidFill>
                          <a:latin typeface="Calibri"/>
                        </a:rPr>
                        <a:t>Decimal (10 digits, 2 after the point)</a:t>
                      </a:r>
                    </a:p>
                  </a:txBody>
                  <a:tcPr marL="54864" marR="54864" marT="22860" marB="22860" anchor="ctr">
                    <a:solidFill>
                      <a:srgbClr val="FFFFFF"/>
                    </a:solidFill>
                  </a:tcPr>
                </a:tc>
                <a:tc>
                  <a:txBody>
                    <a:bodyPr wrap="square"/>
                    <a:lstStyle/>
                    <a:p>
                      <a:r>
                        <a:rPr sz="1200" b="0">
                          <a:solidFill>
                            <a:srgbClr val="1F2937"/>
                          </a:solidFill>
                          <a:latin typeface="Calibri"/>
                        </a:rPr>
                        <a:t>Premiums and amounts</a:t>
                      </a:r>
                    </a:p>
                  </a:txBody>
                  <a:tcPr marL="54864" marR="54864" marT="22860" marB="22860" anchor="ctr">
                    <a:solidFill>
                      <a:srgbClr val="FFFFFF"/>
                    </a:solidFill>
                  </a:tcPr>
                </a:tc>
                <a:tc>
                  <a:txBody>
                    <a:bodyPr wrap="square"/>
                    <a:lstStyle/>
                    <a:p>
                      <a:r>
                        <a:rPr sz="1200" b="0">
                          <a:solidFill>
                            <a:srgbClr val="1F2937"/>
                          </a:solidFill>
                          <a:latin typeface="Calibri"/>
                        </a:rPr>
                        <a:t>25</a:t>
                      </a:r>
                    </a:p>
                  </a:txBody>
                  <a:tcPr marL="54864" marR="54864" marT="22860" marB="22860" anchor="ctr">
                    <a:solidFill>
                      <a:srgbClr val="FFFFFF"/>
                    </a:solidFill>
                  </a:tcPr>
                </a:tc>
                <a:tc>
                  <a:txBody>
                    <a:bodyPr wrap="square"/>
                    <a:lstStyle/>
                    <a:p>
                      <a:r>
                        <a:rPr sz="1200" b="0">
                          <a:solidFill>
                            <a:srgbClr val="1F2937"/>
                          </a:solidFill>
                          <a:latin typeface="Calibri"/>
                        </a:rPr>
                        <a:t>Number box, steps of 0.01</a:t>
                      </a:r>
                    </a:p>
                  </a:txBody>
                  <a:tcPr marL="54864" marR="54864" marT="22860" marB="22860" anchor="ctr">
                    <a:solidFill>
                      <a:srgbClr val="FFFFFF"/>
                    </a:solidFill>
                  </a:tcPr>
                </a:tc>
              </a:tr>
              <a:tr h="640080">
                <a:tc>
                  <a:txBody>
                    <a:bodyPr wrap="square"/>
                    <a:lstStyle/>
                    <a:p>
                      <a:r>
                        <a:rPr sz="1200" b="0">
                          <a:solidFill>
                            <a:srgbClr val="1F2937"/>
                          </a:solidFill>
                          <a:latin typeface="Calibri"/>
                        </a:rPr>
                        <a:t>Date</a:t>
                      </a:r>
                    </a:p>
                  </a:txBody>
                  <a:tcPr marL="54864" marR="54864" marT="22860" marB="22860" anchor="ctr">
                    <a:solidFill>
                      <a:srgbClr val="EEF2F9"/>
                    </a:solidFill>
                  </a:tcPr>
                </a:tc>
                <a:tc>
                  <a:txBody>
                    <a:bodyPr wrap="square"/>
                    <a:lstStyle/>
                    <a:p>
                      <a:r>
                        <a:rPr sz="1200" b="0">
                          <a:solidFill>
                            <a:srgbClr val="1F2937"/>
                          </a:solidFill>
                          <a:latin typeface="Calibri"/>
                        </a:rPr>
                        <a:t>Effective and expiration dates</a:t>
                      </a:r>
                    </a:p>
                  </a:txBody>
                  <a:tcPr marL="54864" marR="54864" marT="22860" marB="22860" anchor="ctr">
                    <a:solidFill>
                      <a:srgbClr val="EEF2F9"/>
                    </a:solidFill>
                  </a:tcPr>
                </a:tc>
                <a:tc>
                  <a:txBody>
                    <a:bodyPr wrap="square"/>
                    <a:lstStyle/>
                    <a:p>
                      <a:r>
                        <a:rPr sz="1200" b="0">
                          <a:solidFill>
                            <a:srgbClr val="1F2937"/>
                          </a:solidFill>
                          <a:latin typeface="Calibri"/>
                        </a:rPr>
                        <a:t>37</a:t>
                      </a:r>
                    </a:p>
                  </a:txBody>
                  <a:tcPr marL="54864" marR="54864" marT="22860" marB="22860" anchor="ctr">
                    <a:solidFill>
                      <a:srgbClr val="EEF2F9"/>
                    </a:solidFill>
                  </a:tcPr>
                </a:tc>
                <a:tc>
                  <a:txBody>
                    <a:bodyPr wrap="square"/>
                    <a:lstStyle/>
                    <a:p>
                      <a:r>
                        <a:rPr sz="1200" b="0">
                          <a:solidFill>
                            <a:srgbClr val="1F2937"/>
                          </a:solidFill>
                          <a:latin typeface="Calibri"/>
                        </a:rPr>
                        <a:t>Date picker</a:t>
                      </a:r>
                    </a:p>
                  </a:txBody>
                  <a:tcPr marL="54864" marR="54864" marT="22860" marB="22860" anchor="ctr">
                    <a:solidFill>
                      <a:srgbClr val="EEF2F9"/>
                    </a:solidFill>
                  </a:tcPr>
                </a:tc>
              </a:tr>
              <a:tr h="640080">
                <a:tc>
                  <a:txBody>
                    <a:bodyPr wrap="square"/>
                    <a:lstStyle/>
                    <a:p>
                      <a:r>
                        <a:rPr sz="1200" b="0">
                          <a:solidFill>
                            <a:srgbClr val="1F2937"/>
                          </a:solidFill>
                          <a:latin typeface="Calibri"/>
                        </a:rPr>
                        <a:t>Text (80 or 128 characters)</a:t>
                      </a:r>
                    </a:p>
                  </a:txBody>
                  <a:tcPr marL="54864" marR="54864" marT="22860" marB="22860" anchor="ctr">
                    <a:solidFill>
                      <a:srgbClr val="FFFFFF"/>
                    </a:solidFill>
                  </a:tcPr>
                </a:tc>
                <a:tc>
                  <a:txBody>
                    <a:bodyPr wrap="square"/>
                    <a:lstStyle/>
                    <a:p>
                      <a:r>
                        <a:rPr sz="1200" b="0">
                          <a:solidFill>
                            <a:srgbClr val="1F2937"/>
                          </a:solidFill>
                          <a:latin typeface="Calibri"/>
                        </a:rPr>
                        <a:t>Policy number, labels</a:t>
                      </a:r>
                    </a:p>
                  </a:txBody>
                  <a:tcPr marL="54864" marR="54864" marT="22860" marB="22860" anchor="ctr">
                    <a:solidFill>
                      <a:srgbClr val="FFFFFF"/>
                    </a:solidFill>
                  </a:tcPr>
                </a:tc>
                <a:tc>
                  <a:txBody>
                    <a:bodyPr wrap="square"/>
                    <a:lstStyle/>
                    <a:p>
                      <a:r>
                        <a:rPr sz="1200" b="0">
                          <a:solidFill>
                            <a:srgbClr val="1F2937"/>
                          </a:solidFill>
                          <a:latin typeface="Calibri"/>
                        </a:rPr>
                        <a:t>72</a:t>
                      </a:r>
                    </a:p>
                  </a:txBody>
                  <a:tcPr marL="54864" marR="54864" marT="22860" marB="22860" anchor="ctr">
                    <a:solidFill>
                      <a:srgbClr val="FFFFFF"/>
                    </a:solidFill>
                  </a:tcPr>
                </a:tc>
                <a:tc>
                  <a:txBody>
                    <a:bodyPr wrap="square"/>
                    <a:lstStyle/>
                    <a:p>
                      <a:r>
                        <a:rPr sz="1200" b="0">
                          <a:solidFill>
                            <a:srgbClr val="1F2937"/>
                          </a:solidFill>
                          <a:latin typeface="Calibri"/>
                        </a:rPr>
                        <a:t>Text box with a length limit</a:t>
                      </a:r>
                    </a:p>
                  </a:txBody>
                  <a:tcPr marL="54864" marR="54864" marT="22860" marB="22860" anchor="ctr">
                    <a:solidFill>
                      <a:srgbClr val="FFFFFF"/>
                    </a:solidFill>
                  </a:tcPr>
                </a:tc>
              </a:tr>
              <a:tr h="640080">
                <a:tc>
                  <a:txBody>
                    <a:bodyPr wrap="square"/>
                    <a:lstStyle/>
                    <a:p>
                      <a:r>
                        <a:rPr sz="1200" b="0">
                          <a:solidFill>
                            <a:srgbClr val="1F2937"/>
                          </a:solidFill>
                          <a:latin typeface="Calibri"/>
                        </a:rPr>
                        <a:t>Integer</a:t>
                      </a:r>
                    </a:p>
                  </a:txBody>
                  <a:tcPr marL="54864" marR="54864" marT="22860" marB="22860" anchor="ctr">
                    <a:solidFill>
                      <a:srgbClr val="EEF2F9"/>
                    </a:solidFill>
                  </a:tcPr>
                </a:tc>
                <a:tc>
                  <a:txBody>
                    <a:bodyPr wrap="square"/>
                    <a:lstStyle/>
                    <a:p>
                      <a:r>
                        <a:rPr sz="1200" b="0">
                          <a:solidFill>
                            <a:srgbClr val="1F2937"/>
                          </a:solidFill>
                          <a:latin typeface="Calibri"/>
                        </a:rPr>
                        <a:t>Counts, such as number of vehicles</a:t>
                      </a:r>
                    </a:p>
                  </a:txBody>
                  <a:tcPr marL="54864" marR="54864" marT="22860" marB="22860" anchor="ctr">
                    <a:solidFill>
                      <a:srgbClr val="EEF2F9"/>
                    </a:solidFill>
                  </a:tcPr>
                </a:tc>
                <a:tc>
                  <a:txBody>
                    <a:bodyPr wrap="square"/>
                    <a:lstStyle/>
                    <a:p>
                      <a:r>
                        <a:rPr sz="1200" b="0">
                          <a:solidFill>
                            <a:srgbClr val="1F2937"/>
                          </a:solidFill>
                          <a:latin typeface="Calibri"/>
                        </a:rPr>
                        <a:t>10</a:t>
                      </a:r>
                    </a:p>
                  </a:txBody>
                  <a:tcPr marL="54864" marR="54864" marT="22860" marB="22860" anchor="ctr">
                    <a:solidFill>
                      <a:srgbClr val="EEF2F9"/>
                    </a:solidFill>
                  </a:tcPr>
                </a:tc>
                <a:tc>
                  <a:txBody>
                    <a:bodyPr wrap="square"/>
                    <a:lstStyle/>
                    <a:p>
                      <a:r>
                        <a:rPr sz="1200" b="0">
                          <a:solidFill>
                            <a:srgbClr val="1F2937"/>
                          </a:solidFill>
                          <a:latin typeface="Calibri"/>
                        </a:rPr>
                        <a:t>Whole-number box</a:t>
                      </a:r>
                    </a:p>
                  </a:txBody>
                  <a:tcPr marL="54864" marR="54864" marT="22860" marB="22860" anchor="ctr">
                    <a:solidFill>
                      <a:srgbClr val="EEF2F9"/>
                    </a:solidFill>
                  </a:tcPr>
                </a:tc>
              </a:tr>
            </a:tbl>
          </a:graphicData>
        </a:graphic>
      </p:graphicFrame>
      <p:sp>
        <p:nvSpPr>
          <p:cNvPr id="9" name="TextBox 8"/>
          <p:cNvSpPr txBox="1"/>
          <p:nvPr/>
        </p:nvSpPr>
        <p:spPr>
          <a:xfrm>
            <a:off x="457200" y="4480560"/>
            <a:ext cx="11247120" cy="914400"/>
          </a:xfrm>
          <a:prstGeom prst="rect">
            <a:avLst/>
          </a:prstGeom>
          <a:noFill/>
        </p:spPr>
        <p:txBody>
          <a:bodyPr wrap="square" anchor="t" lIns="45720" rIns="45720">
            <a:spAutoFit/>
          </a:bodyPr>
          <a:lstStyle/>
          <a:p>
            <a:pPr algn="l">
              <a:spcAft>
                <a:spcPts val="400"/>
              </a:spcAft>
            </a:pPr>
            <a:r>
              <a:rPr sz="1300" b="0" i="0">
                <a:solidFill>
                  <a:srgbClr val="1F2937"/>
                </a:solidFill>
                <a:latin typeface="Calibri"/>
              </a:rPr>
              <a:t>Min and Max on the FRC (for example 0 to 99,999,999) set the allowed range.</a:t>
            </a:r>
          </a:p>
          <a:p>
            <a:pPr algn="l">
              <a:spcAft>
                <a:spcPts val="400"/>
              </a:spcAft>
            </a:pPr>
            <a:r>
              <a:rPr sz="1300" b="0" i="0">
                <a:solidFill>
                  <a:srgbClr val="1F2937"/>
                </a:solidFill>
                <a:latin typeface="Calibri"/>
              </a:rPr>
              <a:t>Fields found in neither file default to plain text.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Checks and Messages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17</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ALG CU-AK (human readable), sheets Err-&lt;group&gt; and ErrorMessages; wording copied as written</a:t>
            </a:r>
          </a:p>
        </p:txBody>
      </p:sp>
      <p:graphicFrame>
        <p:nvGraphicFramePr>
          <p:cNvPr id="8" name="Table 7"/>
          <p:cNvGraphicFramePr>
            <a:graphicFrameLocks noGrp="1"/>
          </p:cNvGraphicFramePr>
          <p:nvPr/>
        </p:nvGraphicFramePr>
        <p:xfrm>
          <a:off x="457200" y="1143000"/>
          <a:ext cx="11292840" cy="4407408"/>
        </p:xfrm>
        <a:graphic>
          <a:graphicData uri="http://schemas.openxmlformats.org/drawingml/2006/table">
            <a:tbl>
              <a:tblPr firstRow="1" bandRow="1">
                <a:tableStyleId>{5C22544A-7EE6-4342-B048-85BDC9FD1C3A}</a:tableStyleId>
              </a:tblPr>
              <a:tblGrid>
                <a:gridCol w="2743200"/>
                <a:gridCol w="8549640"/>
              </a:tblGrid>
              <a:tr h="347472">
                <a:tc>
                  <a:txBody>
                    <a:bodyPr wrap="square"/>
                    <a:lstStyle/>
                    <a:p>
                      <a:r>
                        <a:rPr sz="1050" b="1">
                          <a:solidFill>
                            <a:srgbClr val="FFFFFF"/>
                          </a:solidFill>
                          <a:latin typeface="Calibri"/>
                        </a:rPr>
                        <a:t>Where</a:t>
                      </a:r>
                    </a:p>
                  </a:txBody>
                  <a:tcPr marL="54864" marR="54864" marT="22860" marB="22860" anchor="ctr">
                    <a:solidFill>
                      <a:srgbClr val="0B3B7A"/>
                    </a:solidFill>
                  </a:tcPr>
                </a:tc>
                <a:tc>
                  <a:txBody>
                    <a:bodyPr wrap="square"/>
                    <a:lstStyle/>
                    <a:p>
                      <a:r>
                        <a:rPr sz="1050" b="1">
                          <a:solidFill>
                            <a:srgbClr val="FFFFFF"/>
                          </a:solidFill>
                          <a:latin typeface="Calibri"/>
                        </a:rPr>
                        <a:t>Message shown</a:t>
                      </a:r>
                    </a:p>
                  </a:txBody>
                  <a:tcPr marL="54864" marR="54864" marT="22860" marB="22860" anchor="ctr">
                    <a:solidFill>
                      <a:srgbClr val="0B3B7A"/>
                    </a:solidFill>
                  </a:tcPr>
                </a:tc>
              </a:tr>
              <a:tr h="338328">
                <a:tc>
                  <a:txBody>
                    <a:bodyPr wrap="square"/>
                    <a:lstStyle/>
                    <a:p>
                      <a:r>
                        <a:rPr sz="1050" b="0">
                          <a:solidFill>
                            <a:srgbClr val="1F2937"/>
                          </a:solidFill>
                          <a:latin typeface="Calibri"/>
                        </a:rPr>
                        <a:t>Aircraft Liability</a:t>
                      </a:r>
                    </a:p>
                  </a:txBody>
                  <a:tcPr marL="54864" marR="54864" marT="22860" marB="22860" anchor="ctr">
                    <a:solidFill>
                      <a:srgbClr val="FFFFFF"/>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BOP</a:t>
                      </a:r>
                    </a:p>
                  </a:txBody>
                  <a:tcPr marL="54864" marR="54864" marT="22860" marB="22860" anchor="ctr">
                    <a:solidFill>
                      <a:srgbClr val="EEF2F9"/>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Commercial Auto</a:t>
                      </a:r>
                    </a:p>
                  </a:txBody>
                  <a:tcPr marL="54864" marR="54864" marT="22860" marB="22860" anchor="ctr">
                    <a:solidFill>
                      <a:srgbClr val="FFFFFF"/>
                    </a:solidFill>
                  </a:tcPr>
                </a:tc>
                <a:tc>
                  <a:txBody>
                    <a:bodyPr wrap="square"/>
                    <a:lstStyle/>
                    <a:p>
                      <a:r>
                        <a:rPr sz="1050" b="0">
                          <a:solidFill>
                            <a:srgbClr val="1F2937"/>
                          </a:solidFill>
                          <a:latin typeface="Calibri"/>
                        </a:rPr>
                        <a:t>At Least One 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Auto Dealers</a:t>
                      </a:r>
                    </a:p>
                  </a:txBody>
                  <a:tcPr marL="54864" marR="54864" marT="22860" marB="22860" anchor="ctr">
                    <a:solidFill>
                      <a:srgbClr val="EEF2F9"/>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General Liability</a:t>
                      </a:r>
                    </a:p>
                  </a:txBody>
                  <a:tcPr marL="54864" marR="54864" marT="22860" marB="22860" anchor="ctr">
                    <a:solidFill>
                      <a:srgbClr val="FFFFFF"/>
                    </a:solidFill>
                  </a:tcPr>
                </a:tc>
                <a:tc>
                  <a:txBody>
                    <a:bodyPr wrap="square"/>
                    <a:lstStyle/>
                    <a:p>
                      <a:r>
                        <a:rPr sz="1050" b="0">
                          <a:solidFill>
                            <a:srgbClr val="1F2937"/>
                          </a:solidFill>
                          <a:latin typeface="Calibri"/>
                        </a:rPr>
                        <a:t>At Least One 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General Liability</a:t>
                      </a:r>
                    </a:p>
                  </a:txBody>
                  <a:tcPr marL="54864" marR="54864" marT="22860" marB="22860" anchor="ctr">
                    <a:solidFill>
                      <a:srgbClr val="EEF2F9"/>
                    </a:solidFill>
                  </a:tcPr>
                </a:tc>
                <a:tc>
                  <a:txBody>
                    <a:bodyPr wrap="square"/>
                    <a:lstStyle/>
                    <a:p>
                      <a:r>
                        <a:rPr sz="1050" b="0">
                          <a:solidFill>
                            <a:srgbClr val="1F2937"/>
                          </a:solidFill>
                          <a:latin typeface="Calibri"/>
                        </a:rPr>
                        <a:t>Underlying Hired And Non Owned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General Liability</a:t>
                      </a:r>
                    </a:p>
                  </a:txBody>
                  <a:tcPr marL="54864" marR="54864" marT="22860" marB="22860" anchor="ctr">
                    <a:solidFill>
                      <a:srgbClr val="FFFFFF"/>
                    </a:solidFill>
                  </a:tcPr>
                </a:tc>
                <a:tc>
                  <a:txBody>
                    <a:bodyPr wrap="square"/>
                    <a:lstStyle/>
                    <a:p>
                      <a:r>
                        <a:rPr sz="1050" b="0">
                          <a:solidFill>
                            <a:srgbClr val="1F2937"/>
                          </a:solidFill>
                          <a:latin typeface="Calibri"/>
                        </a:rPr>
                        <a:t>Underlying Hired And Non Owned Limit Must Be Entered</a:t>
                      </a:r>
                    </a:p>
                  </a:txBody>
                  <a:tcPr marL="54864" marR="54864" marT="22860" marB="22860" anchor="ctr">
                    <a:solidFill>
                      <a:srgbClr val="FFFFFF"/>
                    </a:solidFill>
                  </a:tcPr>
                </a:tc>
              </a:tr>
              <a:tr h="338328">
                <a:tc>
                  <a:txBody>
                    <a:bodyPr wrap="square"/>
                    <a:lstStyle/>
                    <a:p>
                      <a:r>
                        <a:rPr sz="1050" b="0">
                          <a:solidFill>
                            <a:srgbClr val="1F2937"/>
                          </a:solidFill>
                          <a:latin typeface="Calibri"/>
                        </a:rPr>
                        <a:t>Employers Liability</a:t>
                      </a:r>
                    </a:p>
                  </a:txBody>
                  <a:tcPr marL="54864" marR="54864" marT="22860" marB="22860" anchor="ctr">
                    <a:solidFill>
                      <a:srgbClr val="EEF2F9"/>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Liquor</a:t>
                      </a:r>
                    </a:p>
                  </a:txBody>
                  <a:tcPr marL="54864" marR="54864" marT="22860" marB="22860" anchor="ctr">
                    <a:solidFill>
                      <a:srgbClr val="FFFFFF"/>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Watercraft</a:t>
                      </a:r>
                    </a:p>
                  </a:txBody>
                  <a:tcPr marL="54864" marR="54864" marT="22860" marB="22860" anchor="ctr">
                    <a:solidFill>
                      <a:srgbClr val="EEF2F9"/>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Other Liability</a:t>
                      </a:r>
                    </a:p>
                  </a:txBody>
                  <a:tcPr marL="54864" marR="54864" marT="22860" marB="22860" anchor="ctr">
                    <a:solidFill>
                      <a:srgbClr val="FFFFFF"/>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Policy</a:t>
                      </a:r>
                    </a:p>
                  </a:txBody>
                  <a:tcPr marL="54864" marR="54864" marT="22860" marB="22860" anchor="ctr">
                    <a:solidFill>
                      <a:srgbClr val="EEF2F9"/>
                    </a:solidFill>
                  </a:tcPr>
                </a:tc>
                <a:tc>
                  <a:txBody>
                    <a:bodyPr wrap="square"/>
                    <a:lstStyle/>
                    <a:p>
                      <a:r>
                        <a:rPr sz="1050" b="0">
                          <a:solidFill>
                            <a:srgbClr val="1F2937"/>
                          </a:solidFill>
                          <a:latin typeface="Calibri"/>
                        </a:rPr>
                        <a:t>Please Enter A Manual Premium For Excess Liablity Coverage</a:t>
                      </a:r>
                    </a:p>
                  </a:txBody>
                  <a:tcPr marL="54864" marR="54864" marT="22860" marB="22860" anchor="ctr">
                    <a:solidFill>
                      <a:srgbClr val="EEF2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Left Out and Why</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18</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sheet (Type = Form); DS Tables sheet; your instruction to ignore forms for now</a:t>
            </a:r>
          </a:p>
        </p:txBody>
      </p:sp>
      <p:sp>
        <p:nvSpPr>
          <p:cNvPr id="8" name="Rectangle 7"/>
          <p:cNvSpPr/>
          <p:nvPr/>
        </p:nvSpPr>
        <p:spPr>
          <a:xfrm>
            <a:off x="50292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91440" cy="13258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2588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Forms and endorsements: 254 form pages in the FRC, left out as you asked</a:t>
            </a:r>
          </a:p>
        </p:txBody>
      </p:sp>
      <p:sp>
        <p:nvSpPr>
          <p:cNvPr id="11" name="Rectangle 10"/>
          <p:cNvSpPr/>
          <p:nvPr/>
        </p:nvSpPr>
        <p:spPr>
          <a:xfrm>
            <a:off x="617220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25880"/>
            <a:ext cx="91440" cy="13258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2588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Form rules (for example, only one of two forms can be attached): belong to the form pages</a:t>
            </a:r>
          </a:p>
        </p:txBody>
      </p:sp>
      <p:sp>
        <p:nvSpPr>
          <p:cNvPr id="14" name="Rectangle 13"/>
          <p:cNvSpPr/>
          <p:nvPr/>
        </p:nvSpPr>
        <p:spPr>
          <a:xfrm>
            <a:off x="50292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880360"/>
            <a:ext cx="91440" cy="13258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88036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Premium calculation: the ALG rating sheets are not read; premiums stay blank</a:t>
            </a:r>
          </a:p>
        </p:txBody>
      </p:sp>
      <p:sp>
        <p:nvSpPr>
          <p:cNvPr id="17" name="Rectangle 16"/>
          <p:cNvSpPr/>
          <p:nvPr/>
        </p:nvSpPr>
        <p:spPr>
          <a:xfrm>
            <a:off x="617220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880360"/>
            <a:ext cx="91440" cy="13258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88036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No FRC pages for Garage, Underlying Liability, Payments, Electronic Signature, Quote Letter (they exist only in DS)</a:t>
            </a:r>
          </a:p>
        </p:txBody>
      </p:sp>
      <p:sp>
        <p:nvSpPr>
          <p:cNvPr id="20" name="Rectangle 19"/>
          <p:cNvSpPr/>
          <p:nvPr/>
        </p:nvSpPr>
        <p:spPr>
          <a:xfrm>
            <a:off x="50292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434840"/>
            <a:ext cx="91440" cy="1325880"/>
          </a:xfrm>
          <a:prstGeom prst="rect">
            <a:avLst/>
          </a:prstGeom>
          <a:solidFill>
            <a:srgbClr val="CC3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3484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Risk Type: hidden, it needs a Package Policy field that is not on the page</a:t>
            </a:r>
          </a:p>
        </p:txBody>
      </p:sp>
      <p:sp>
        <p:nvSpPr>
          <p:cNvPr id="23" name="Rectangle 22"/>
          <p:cNvSpPr/>
          <p:nvPr/>
        </p:nvSpPr>
        <p:spPr>
          <a:xfrm>
            <a:off x="617220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434840"/>
            <a:ext cx="91440" cy="132588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43484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Additional Coverages window: shown as an empty table only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Assumptions and Open Points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19</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Our own notes; each item is unconfirmed until someone with the Builder setup checks it</a:t>
            </a:r>
          </a:p>
        </p:txBody>
      </p:sp>
      <p:sp>
        <p:nvSpPr>
          <p:cNvPr id="8" name="Rectangle 7"/>
          <p:cNvSpPr/>
          <p:nvPr/>
        </p:nvSpPr>
        <p:spPr>
          <a:xfrm>
            <a:off x="50292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91440" cy="13258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2588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No Subline field. The platform may still need a fixed Subline value behind the scenes</a:t>
            </a:r>
          </a:p>
        </p:txBody>
      </p:sp>
      <p:sp>
        <p:nvSpPr>
          <p:cNvPr id="11" name="Rectangle 10"/>
          <p:cNvSpPr/>
          <p:nvPr/>
        </p:nvSpPr>
        <p:spPr>
          <a:xfrm>
            <a:off x="617220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25880"/>
            <a:ext cx="91440" cy="13258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2588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State shown as a list on the Policy page; the ERC has no State field (state is the file)</a:t>
            </a:r>
          </a:p>
        </p:txBody>
      </p:sp>
      <p:sp>
        <p:nvSpPr>
          <p:cNvPr id="14" name="Rectangle 13"/>
          <p:cNvSpPr/>
          <p:nvPr/>
        </p:nvSpPr>
        <p:spPr>
          <a:xfrm>
            <a:off x="50292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880360"/>
            <a:ext cx="91440" cy="13258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88036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Event names, ids and product name are placeholders until the real setup exists</a:t>
            </a:r>
          </a:p>
        </p:txBody>
      </p:sp>
      <p:sp>
        <p:nvSpPr>
          <p:cNvPr id="17" name="Rectangle 16"/>
          <p:cNvSpPr/>
          <p:nvPr/>
        </p:nvSpPr>
        <p:spPr>
          <a:xfrm>
            <a:off x="617220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880360"/>
            <a:ext cx="91440" cy="13258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88036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Only the 12/01/2020 package was read; newer 2023 and 2026 CU packages are not compared</a:t>
            </a:r>
          </a:p>
        </p:txBody>
      </p:sp>
      <p:sp>
        <p:nvSpPr>
          <p:cNvPr id="20" name="Rectangle 19"/>
          <p:cNvSpPr/>
          <p:nvPr/>
        </p:nvSpPr>
        <p:spPr>
          <a:xfrm>
            <a:off x="50292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434840"/>
            <a:ext cx="91440" cy="1325880"/>
          </a:xfrm>
          <a:prstGeom prst="rect">
            <a:avLst/>
          </a:prstGeom>
          <a:solidFill>
            <a:srgbClr val="CC3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3484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CU-AK and CU-CW are identical on these pages; they differ only on form pages</a:t>
            </a:r>
          </a:p>
        </p:txBody>
      </p:sp>
      <p:sp>
        <p:nvSpPr>
          <p:cNvPr id="23" name="Rectangle 22"/>
          <p:cNvSpPr/>
          <p:nvPr/>
        </p:nvSpPr>
        <p:spPr>
          <a:xfrm>
            <a:off x="617220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434840"/>
            <a:ext cx="91440" cy="132588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43484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Carrier is a text box here; the ERC marks it as a lookup button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Source Files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v2</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v2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20</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Folder: CUP Batch 1 ERC Files; other items as listed</a:t>
            </a:r>
          </a:p>
        </p:txBody>
      </p:sp>
      <p:graphicFrame>
        <p:nvGraphicFramePr>
          <p:cNvPr id="8" name="Table 7"/>
          <p:cNvGraphicFramePr>
            <a:graphicFrameLocks noGrp="1"/>
          </p:cNvGraphicFramePr>
          <p:nvPr/>
        </p:nvGraphicFramePr>
        <p:xfrm>
          <a:off x="457200" y="1143000"/>
          <a:ext cx="11292839" cy="4187952"/>
        </p:xfrm>
        <a:graphic>
          <a:graphicData uri="http://schemas.openxmlformats.org/drawingml/2006/table">
            <a:tbl>
              <a:tblPr firstRow="1" bandRow="1">
                <a:tableStyleId>{5C22544A-7EE6-4342-B048-85BDC9FD1C3A}</a:tableStyleId>
              </a:tblPr>
              <a:tblGrid>
                <a:gridCol w="7315200"/>
                <a:gridCol w="3977639"/>
              </a:tblGrid>
              <a:tr h="347472">
                <a:tc>
                  <a:txBody>
                    <a:bodyPr wrap="square"/>
                    <a:lstStyle/>
                    <a:p>
                      <a:r>
                        <a:rPr sz="1200" b="1">
                          <a:solidFill>
                            <a:srgbClr val="FFFFFF"/>
                          </a:solidFill>
                          <a:latin typeface="Calibri"/>
                        </a:rPr>
                        <a:t>File</a:t>
                      </a:r>
                    </a:p>
                  </a:txBody>
                  <a:tcPr marL="54864" marR="54864" marT="22860" marB="22860" anchor="ctr">
                    <a:solidFill>
                      <a:srgbClr val="0B3B7A"/>
                    </a:solidFill>
                  </a:tcPr>
                </a:tc>
                <a:tc>
                  <a:txBody>
                    <a:bodyPr wrap="square"/>
                    <a:lstStyle/>
                    <a:p>
                      <a:r>
                        <a:rPr sz="1200" b="1">
                          <a:solidFill>
                            <a:srgbClr val="FFFFFF"/>
                          </a:solidFill>
                          <a:latin typeface="Calibri"/>
                        </a:rPr>
                        <a:t>Used for</a:t>
                      </a:r>
                    </a:p>
                  </a:txBody>
                  <a:tcPr marL="54864" marR="54864" marT="22860" marB="22860" anchor="ctr">
                    <a:solidFill>
                      <a:srgbClr val="0B3B7A"/>
                    </a:solidFill>
                  </a:tcPr>
                </a:tc>
              </a:tr>
              <a:tr h="548640">
                <a:tc>
                  <a:txBody>
                    <a:bodyPr wrap="square"/>
                    <a:lstStyle/>
                    <a:p>
                      <a:r>
                        <a:rPr sz="1200" b="0">
                          <a:solidFill>
                            <a:srgbClr val="1F2937"/>
                          </a:solidFill>
                          <a:latin typeface="Calibri"/>
                        </a:rPr>
                        <a:t>FRC-CU-AK-12012020-V01.xlsx / FRC-CU-CW-12012020-V01.xlsx</a:t>
                      </a:r>
                    </a:p>
                  </a:txBody>
                  <a:tcPr marL="54864" marR="54864" marT="22860" marB="22860" anchor="ctr">
                    <a:solidFill>
                      <a:srgbClr val="FFFFFF"/>
                    </a:solidFill>
                  </a:tcPr>
                </a:tc>
                <a:tc>
                  <a:txBody>
                    <a:bodyPr wrap="square"/>
                    <a:lstStyle/>
                    <a:p>
                      <a:r>
                        <a:rPr sz="1200" b="0">
                          <a:solidFill>
                            <a:srgbClr val="1F2937"/>
                          </a:solidFill>
                          <a:latin typeface="Calibri"/>
                        </a:rPr>
                        <a:t>Pages, fields, lists, conditions</a:t>
                      </a:r>
                    </a:p>
                  </a:txBody>
                  <a:tcPr marL="54864" marR="54864" marT="22860" marB="22860" anchor="ctr">
                    <a:solidFill>
                      <a:srgbClr val="FFFFFF"/>
                    </a:solidFill>
                  </a:tcPr>
                </a:tc>
              </a:tr>
              <a:tr h="548640">
                <a:tc>
                  <a:txBody>
                    <a:bodyPr wrap="square"/>
                    <a:lstStyle/>
                    <a:p>
                      <a:r>
                        <a:rPr sz="1200" b="0">
                          <a:solidFill>
                            <a:srgbClr val="1F2937"/>
                          </a:solidFill>
                          <a:latin typeface="Calibri"/>
                        </a:rPr>
                        <a:t>DS-CU-AK-12012020-V01.xlsx</a:t>
                      </a:r>
                    </a:p>
                  </a:txBody>
                  <a:tcPr marL="54864" marR="54864" marT="22860" marB="22860" anchor="ctr">
                    <a:solidFill>
                      <a:srgbClr val="EEF2F9"/>
                    </a:solidFill>
                  </a:tcPr>
                </a:tc>
                <a:tc>
                  <a:txBody>
                    <a:bodyPr wrap="square"/>
                    <a:lstStyle/>
                    <a:p>
                      <a:r>
                        <a:rPr sz="1200" b="0">
                          <a:solidFill>
                            <a:srgbClr val="1F2937"/>
                          </a:solidFill>
                          <a:latin typeface="Calibri"/>
                        </a:rPr>
                        <a:t>Field types and sizes</a:t>
                      </a:r>
                    </a:p>
                  </a:txBody>
                  <a:tcPr marL="54864" marR="54864" marT="22860" marB="22860" anchor="ctr">
                    <a:solidFill>
                      <a:srgbClr val="EEF2F9"/>
                    </a:solidFill>
                  </a:tcPr>
                </a:tc>
              </a:tr>
              <a:tr h="548640">
                <a:tc>
                  <a:txBody>
                    <a:bodyPr wrap="square"/>
                    <a:lstStyle/>
                    <a:p>
                      <a:r>
                        <a:rPr sz="1200" b="0">
                          <a:solidFill>
                            <a:srgbClr val="1F2937"/>
                          </a:solidFill>
                          <a:latin typeface="Calibri"/>
                        </a:rPr>
                        <a:t>ALG-CU-AK-12012020-V01_HR.xlsx</a:t>
                      </a:r>
                    </a:p>
                  </a:txBody>
                  <a:tcPr marL="54864" marR="54864" marT="22860" marB="22860" anchor="ctr">
                    <a:solidFill>
                      <a:srgbClr val="FFFFFF"/>
                    </a:solidFill>
                  </a:tcPr>
                </a:tc>
                <a:tc>
                  <a:txBody>
                    <a:bodyPr wrap="square"/>
                    <a:lstStyle/>
                    <a:p>
                      <a:r>
                        <a:rPr sz="1200" b="0">
                          <a:solidFill>
                            <a:srgbClr val="1F2937"/>
                          </a:solidFill>
                          <a:latin typeface="Calibri"/>
                        </a:rPr>
                        <a:t>Check rules and messages</a:t>
                      </a:r>
                    </a:p>
                  </a:txBody>
                  <a:tcPr marL="54864" marR="54864" marT="22860" marB="22860" anchor="ctr">
                    <a:solidFill>
                      <a:srgbClr val="FFFFFF"/>
                    </a:solidFill>
                  </a:tcPr>
                </a:tc>
              </a:tr>
              <a:tr h="548640">
                <a:tc>
                  <a:txBody>
                    <a:bodyPr wrap="square"/>
                    <a:lstStyle/>
                    <a:p>
                      <a:r>
                        <a:rPr sz="1200" b="0">
                          <a:solidFill>
                            <a:srgbClr val="1F2937"/>
                          </a:solidFill>
                          <a:latin typeface="Calibri"/>
                        </a:rPr>
                        <a:t>TC-CU-AK-12012020-V01.xlsx; DOC-CU-AK-12012020-V01.xlsx</a:t>
                      </a:r>
                    </a:p>
                  </a:txBody>
                  <a:tcPr marL="54864" marR="54864" marT="22860" marB="22860" anchor="ctr">
                    <a:solidFill>
                      <a:srgbClr val="EEF2F9"/>
                    </a:solidFill>
                  </a:tcPr>
                </a:tc>
                <a:tc>
                  <a:txBody>
                    <a:bodyPr wrap="square"/>
                    <a:lstStyle/>
                    <a:p>
                      <a:r>
                        <a:rPr sz="1200" b="0">
                          <a:solidFill>
                            <a:srgbClr val="1F2937"/>
                          </a:solidFill>
                          <a:latin typeface="Calibri"/>
                        </a:rPr>
                        <a:t>Reference only</a:t>
                      </a:r>
                    </a:p>
                  </a:txBody>
                  <a:tcPr marL="54864" marR="54864" marT="22860" marB="22860" anchor="ctr">
                    <a:solidFill>
                      <a:srgbClr val="EEF2F9"/>
                    </a:solidFill>
                  </a:tcPr>
                </a:tc>
              </a:tr>
              <a:tr h="548640">
                <a:tc>
                  <a:txBody>
                    <a:bodyPr wrap="square"/>
                    <a:lstStyle/>
                    <a:p>
                      <a:r>
                        <a:rPr sz="1200" b="0">
                          <a:solidFill>
                            <a:srgbClr val="1F2937"/>
                          </a:solidFill>
                          <a:latin typeface="Calibri"/>
                        </a:rPr>
                        <a:t>ISO ERC Suite Product Guide (PDF, Oct 2019)</a:t>
                      </a:r>
                    </a:p>
                  </a:txBody>
                  <a:tcPr marL="54864" marR="54864" marT="22860" marB="22860" anchor="ctr">
                    <a:solidFill>
                      <a:srgbClr val="FFFFFF"/>
                    </a:solidFill>
                  </a:tcPr>
                </a:tc>
                <a:tc>
                  <a:txBody>
                    <a:bodyPr wrap="square"/>
                    <a:lstStyle/>
                    <a:p>
                      <a:r>
                        <a:rPr sz="1200" b="0">
                          <a:solidFill>
                            <a:srgbClr val="1F2937"/>
                          </a:solidFill>
                          <a:latin typeface="Calibri"/>
                        </a:rPr>
                        <a:t>Hierarchy pictures, sheet meanings</a:t>
                      </a:r>
                    </a:p>
                  </a:txBody>
                  <a:tcPr marL="54864" marR="54864" marT="22860" marB="22860" anchor="ctr">
                    <a:solidFill>
                      <a:srgbClr val="FFFFFF"/>
                    </a:solidFill>
                  </a:tcPr>
                </a:tc>
              </a:tr>
              <a:tr h="548640">
                <a:tc>
                  <a:txBody>
                    <a:bodyPr wrap="square"/>
                    <a:lstStyle/>
                    <a:p>
                      <a:r>
                        <a:rPr sz="1200" b="0">
                          <a:solidFill>
                            <a:srgbClr val="1F2937"/>
                          </a:solidFill>
                          <a:latin typeface="Calibri"/>
                        </a:rPr>
                        <a:t>SWP_1_3_V1 page data and screenshots (Line Of Business, Policy, Location, Classification)</a:t>
                      </a:r>
                    </a:p>
                  </a:txBody>
                  <a:tcPr marL="54864" marR="54864" marT="22860" marB="22860" anchor="ctr">
                    <a:solidFill>
                      <a:srgbClr val="EEF2F9"/>
                    </a:solidFill>
                  </a:tcPr>
                </a:tc>
                <a:tc>
                  <a:txBody>
                    <a:bodyPr wrap="square"/>
                    <a:lstStyle/>
                    <a:p>
                      <a:r>
                        <a:rPr sz="1200" b="0">
                          <a:solidFill>
                            <a:srgbClr val="1F2937"/>
                          </a:solidFill>
                          <a:latin typeface="Calibri"/>
                        </a:rPr>
                        <a:t>Screen flow and look</a:t>
                      </a:r>
                    </a:p>
                  </a:txBody>
                  <a:tcPr marL="54864" marR="54864" marT="22860" marB="22860" anchor="ctr">
                    <a:solidFill>
                      <a:srgbClr val="EEF2F9"/>
                    </a:solidFill>
                  </a:tcPr>
                </a:tc>
              </a:tr>
              <a:tr h="548640">
                <a:tc>
                  <a:txBody>
                    <a:bodyPr wrap="square"/>
                    <a:lstStyle/>
                    <a:p>
                      <a:r>
                        <a:rPr sz="1200" b="0">
                          <a:solidFill>
                            <a:srgbClr val="1F2937"/>
                          </a:solidFill>
                          <a:latin typeface="Calibri"/>
                        </a:rPr>
                        <a:t>Our notes: claudedocs/findings 01–06</a:t>
                      </a:r>
                    </a:p>
                  </a:txBody>
                  <a:tcPr marL="54864" marR="54864" marT="22860" marB="22860" anchor="ctr">
                    <a:solidFill>
                      <a:srgbClr val="FFFFFF"/>
                    </a:solidFill>
                  </a:tcPr>
                </a:tc>
                <a:tc>
                  <a:txBody>
                    <a:bodyPr wrap="square"/>
                    <a:lstStyle/>
                    <a:p>
                      <a:r>
                        <a:rPr sz="1200" b="0">
                          <a:solidFill>
                            <a:srgbClr val="1F2937"/>
                          </a:solidFill>
                          <a:latin typeface="Calibri"/>
                        </a:rPr>
                        <a:t>Full reasoning for every decision</a:t>
                      </a:r>
                    </a:p>
                  </a:txBody>
                  <a:tcPr marL="54864" marR="54864" marT="22860" marB="22860"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